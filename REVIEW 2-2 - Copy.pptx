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notesMasterIdLst>
    <p:notesMasterId r:id="rId27"/>
  </p:notesMasterIdLst>
  <p:sldIdLst>
    <p:sldId id="256" r:id="rId2"/>
    <p:sldId id="257" r:id="rId3"/>
    <p:sldId id="272" r:id="rId4"/>
    <p:sldId id="258" r:id="rId5"/>
    <p:sldId id="259" r:id="rId6"/>
    <p:sldId id="273" r:id="rId7"/>
    <p:sldId id="288" r:id="rId8"/>
    <p:sldId id="289" r:id="rId9"/>
    <p:sldId id="290" r:id="rId10"/>
    <p:sldId id="275" r:id="rId11"/>
    <p:sldId id="276" r:id="rId12"/>
    <p:sldId id="278" r:id="rId13"/>
    <p:sldId id="291" r:id="rId14"/>
    <p:sldId id="279" r:id="rId15"/>
    <p:sldId id="280" r:id="rId16"/>
    <p:sldId id="292" r:id="rId17"/>
    <p:sldId id="293" r:id="rId18"/>
    <p:sldId id="294" r:id="rId19"/>
    <p:sldId id="295" r:id="rId20"/>
    <p:sldId id="296" r:id="rId21"/>
    <p:sldId id="284" r:id="rId22"/>
    <p:sldId id="285" r:id="rId23"/>
    <p:sldId id="297" r:id="rId24"/>
    <p:sldId id="298" r:id="rId25"/>
    <p:sldId id="27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59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94660"/>
  </p:normalViewPr>
  <p:slideViewPr>
    <p:cSldViewPr snapToGrid="0">
      <p:cViewPr varScale="1">
        <p:scale>
          <a:sx n="79" d="100"/>
          <a:sy n="79" d="100"/>
        </p:scale>
        <p:origin x="3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E8A68-B2C3-43EC-BD72-CCE921B57C10}"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85D88-70CF-4B7D-B064-EE7943BE90E6}" type="slidenum">
              <a:rPr lang="en-IN" smtClean="0"/>
              <a:t>‹#›</a:t>
            </a:fld>
            <a:endParaRPr lang="en-IN"/>
          </a:p>
        </p:txBody>
      </p:sp>
    </p:spTree>
    <p:extLst>
      <p:ext uri="{BB962C8B-B14F-4D97-AF65-F5344CB8AC3E}">
        <p14:creationId xmlns:p14="http://schemas.microsoft.com/office/powerpoint/2010/main" val="1350588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085D88-70CF-4B7D-B064-EE7943BE90E6}" type="slidenum">
              <a:rPr lang="en-IN" smtClean="0"/>
              <a:t>1</a:t>
            </a:fld>
            <a:endParaRPr lang="en-IN"/>
          </a:p>
        </p:txBody>
      </p:sp>
    </p:spTree>
    <p:extLst>
      <p:ext uri="{BB962C8B-B14F-4D97-AF65-F5344CB8AC3E}">
        <p14:creationId xmlns:p14="http://schemas.microsoft.com/office/powerpoint/2010/main" val="4032267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395933-8B17-4E74-842D-751D74E0D61B}"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2532563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395933-8B17-4E74-842D-751D74E0D61B}"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1184736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395933-8B17-4E74-842D-751D74E0D61B}"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3791739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590885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395933-8B17-4E74-842D-751D74E0D61B}" type="datetimeFigureOut">
              <a:rPr lang="en-IN" smtClean="0"/>
              <a:t>26-02-2026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3312407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395933-8B17-4E74-842D-751D74E0D61B}" type="datetimeFigureOut">
              <a:rPr lang="en-IN" smtClean="0"/>
              <a:t>26-02-2026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3726227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395933-8B17-4E74-842D-751D74E0D61B}" type="datetimeFigureOut">
              <a:rPr lang="en-IN" smtClean="0"/>
              <a:t>26-02-2026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4181055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482245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2396818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2837982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2960321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5470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1192390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C395933-8B17-4E74-842D-751D74E0D61B}" type="datetimeFigureOut">
              <a:rPr lang="en-IN" smtClean="0"/>
              <a:t>26-02-2026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4037786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C395933-8B17-4E74-842D-751D74E0D61B}" type="datetimeFigureOut">
              <a:rPr lang="en-IN" smtClean="0"/>
              <a:t>26-02-2026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2525735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395933-8B17-4E74-842D-751D74E0D61B}"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18291156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395933-8B17-4E74-842D-751D74E0D61B}"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31180545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395933-8B17-4E74-842D-751D74E0D61B}"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22693867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395933-8B17-4E74-842D-751D74E0D61B}"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74BEE-7023-4370-BFCC-FDE045C27646}" type="slidenum">
              <a:rPr lang="en-IN" smtClean="0"/>
              <a:t>‹#›</a:t>
            </a:fld>
            <a:endParaRPr lang="en-IN"/>
          </a:p>
        </p:txBody>
      </p:sp>
    </p:spTree>
    <p:extLst>
      <p:ext uri="{BB962C8B-B14F-4D97-AF65-F5344CB8AC3E}">
        <p14:creationId xmlns:p14="http://schemas.microsoft.com/office/powerpoint/2010/main" val="964285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C395933-8B17-4E74-842D-751D74E0D61B}" type="datetimeFigureOut">
              <a:rPr lang="en-IN" smtClean="0"/>
              <a:t>26-02-2026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3A74BEE-7023-4370-BFCC-FDE045C27646}" type="slidenum">
              <a:rPr lang="en-IN" smtClean="0"/>
              <a:t>‹#›</a:t>
            </a:fld>
            <a:endParaRPr lang="en-IN"/>
          </a:p>
        </p:txBody>
      </p:sp>
    </p:spTree>
    <p:extLst>
      <p:ext uri="{BB962C8B-B14F-4D97-AF65-F5344CB8AC3E}">
        <p14:creationId xmlns:p14="http://schemas.microsoft.com/office/powerpoint/2010/main" val="1072757283"/>
      </p:ext>
    </p:extLst>
  </p:cSld>
  <p:clrMap bg1="dk1" tx1="lt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5B9936D-C357-69C5-F499-83AC33EF752E}"/>
              </a:ext>
            </a:extLst>
          </p:cNvPr>
          <p:cNvSpPr>
            <a:spLocks noGrp="1"/>
          </p:cNvSpPr>
          <p:nvPr>
            <p:ph type="ctrTitle"/>
          </p:nvPr>
        </p:nvSpPr>
        <p:spPr>
          <a:xfrm>
            <a:off x="1751012" y="185353"/>
            <a:ext cx="8689976" cy="2261286"/>
          </a:xfrm>
        </p:spPr>
        <p:txBody>
          <a:bodyPr>
            <a:normAutofit/>
          </a:bodyPr>
          <a:lstStyle/>
          <a:p>
            <a:r>
              <a:rPr lang="en-GB" sz="2800" dirty="0" err="1">
                <a:latin typeface="Algerian" panose="04020705040A02060702" pitchFamily="82" charset="0"/>
              </a:rPr>
              <a:t>Bapatla</a:t>
            </a:r>
            <a:r>
              <a:rPr lang="en-GB" sz="2800" dirty="0">
                <a:latin typeface="Algerian" panose="04020705040A02060702" pitchFamily="82" charset="0"/>
              </a:rPr>
              <a:t> engineering college::</a:t>
            </a:r>
            <a:r>
              <a:rPr lang="en-GB" sz="2800" dirty="0" err="1">
                <a:latin typeface="Algerian" panose="04020705040A02060702" pitchFamily="82" charset="0"/>
              </a:rPr>
              <a:t>bapatla</a:t>
            </a:r>
            <a:r>
              <a:rPr lang="en-GB" sz="2800" dirty="0">
                <a:latin typeface="Algerian" panose="04020705040A02060702" pitchFamily="82" charset="0"/>
              </a:rPr>
              <a:t> </a:t>
            </a:r>
            <a:br>
              <a:rPr lang="en-GB" sz="2400" dirty="0"/>
            </a:br>
            <a:r>
              <a:rPr lang="en-GB" sz="2400" dirty="0">
                <a:latin typeface="Times New Roman" panose="02020603050405020304" pitchFamily="18" charset="0"/>
                <a:cs typeface="Times New Roman" panose="02020603050405020304" pitchFamily="18" charset="0"/>
              </a:rPr>
              <a:t>(autonomous)</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department of information technology</a:t>
            </a:r>
            <a:br>
              <a:rPr lang="en-GB" sz="3600" dirty="0"/>
            </a:br>
            <a:endParaRPr lang="en-IN" sz="3600" dirty="0"/>
          </a:p>
        </p:txBody>
      </p:sp>
      <p:sp>
        <p:nvSpPr>
          <p:cNvPr id="9" name="Subtitle 8">
            <a:extLst>
              <a:ext uri="{FF2B5EF4-FFF2-40B4-BE49-F238E27FC236}">
                <a16:creationId xmlns:a16="http://schemas.microsoft.com/office/drawing/2014/main" id="{F88812C4-15CB-D6E0-643C-0FBD46C7FCD2}"/>
              </a:ext>
            </a:extLst>
          </p:cNvPr>
          <p:cNvSpPr>
            <a:spLocks noGrp="1"/>
          </p:cNvSpPr>
          <p:nvPr>
            <p:ph type="subTitle" idx="1"/>
          </p:nvPr>
        </p:nvSpPr>
        <p:spPr>
          <a:xfrm>
            <a:off x="1751012" y="2446640"/>
            <a:ext cx="7888288" cy="3249622"/>
          </a:xfrm>
        </p:spPr>
        <p:txBody>
          <a:bodyPr>
            <a:normAutofit fontScale="25000" lnSpcReduction="20000"/>
          </a:bodyPr>
          <a:lstStyle/>
          <a:p>
            <a:r>
              <a:rPr lang="en-GB" sz="7200" dirty="0">
                <a:solidFill>
                  <a:schemeClr val="tx1"/>
                </a:solidFill>
                <a:latin typeface="Times New Roman" panose="02020603050405020304" pitchFamily="18" charset="0"/>
                <a:cs typeface="Times New Roman" panose="02020603050405020304" pitchFamily="18" charset="0"/>
              </a:rPr>
              <a:t>Internal project review – 1</a:t>
            </a:r>
          </a:p>
          <a:p>
            <a:r>
              <a:rPr lang="en-GB" sz="7200" dirty="0">
                <a:solidFill>
                  <a:schemeClr val="tx1"/>
                </a:solidFill>
                <a:latin typeface="Times New Roman" panose="02020603050405020304" pitchFamily="18" charset="0"/>
                <a:cs typeface="Times New Roman" panose="02020603050405020304" pitchFamily="18" charset="0"/>
              </a:rPr>
              <a:t>On</a:t>
            </a:r>
          </a:p>
          <a:p>
            <a:r>
              <a:rPr lang="en-GB" sz="9600" dirty="0">
                <a:latin typeface="Times New Roman" panose="02020603050405020304" pitchFamily="18" charset="0"/>
                <a:cs typeface="Times New Roman" panose="02020603050405020304" pitchFamily="18" charset="0"/>
              </a:rPr>
              <a:t>AI BASED PRODUCT DEMAND AND SALES TREND ANALYSIS</a:t>
            </a:r>
            <a:endParaRPr lang="en-GB" sz="9600" dirty="0">
              <a:solidFill>
                <a:schemeClr val="tx1"/>
              </a:solidFill>
              <a:latin typeface="Times New Roman" panose="02020603050405020304" pitchFamily="18" charset="0"/>
              <a:cs typeface="Times New Roman" panose="02020603050405020304" pitchFamily="18" charset="0"/>
            </a:endParaRPr>
          </a:p>
          <a:p>
            <a:endParaRPr lang="en-GB" sz="7200" dirty="0">
              <a:solidFill>
                <a:schemeClr val="tx1"/>
              </a:solidFill>
              <a:latin typeface="Times New Roman" panose="02020603050405020304" pitchFamily="18" charset="0"/>
              <a:cs typeface="Times New Roman" panose="02020603050405020304" pitchFamily="18" charset="0"/>
            </a:endParaRPr>
          </a:p>
          <a:p>
            <a:r>
              <a:rPr lang="en-GB" sz="6400" dirty="0">
                <a:solidFill>
                  <a:schemeClr val="tx1"/>
                </a:solidFill>
                <a:latin typeface="Times New Roman" panose="02020603050405020304" pitchFamily="18" charset="0"/>
                <a:cs typeface="Times New Roman" panose="02020603050405020304" pitchFamily="18" charset="0"/>
              </a:rPr>
              <a:t>Under the estimated guidance </a:t>
            </a:r>
          </a:p>
          <a:p>
            <a:r>
              <a:rPr lang="en-GB" sz="6400" dirty="0">
                <a:solidFill>
                  <a:schemeClr val="tx1"/>
                </a:solidFill>
                <a:latin typeface="Times New Roman" panose="02020603050405020304" pitchFamily="18" charset="0"/>
                <a:cs typeface="Times New Roman" panose="02020603050405020304" pitchFamily="18" charset="0"/>
              </a:rPr>
              <a:t>Of</a:t>
            </a:r>
          </a:p>
          <a:p>
            <a:r>
              <a:rPr lang="en-GB" sz="8000" dirty="0">
                <a:solidFill>
                  <a:schemeClr val="tx1"/>
                </a:solidFill>
                <a:latin typeface="Times New Roman" panose="02020603050405020304" pitchFamily="18" charset="0"/>
                <a:cs typeface="Times New Roman" panose="02020603050405020304" pitchFamily="18" charset="0"/>
              </a:rPr>
              <a:t>Dr</a:t>
            </a:r>
            <a:r>
              <a:rPr lang="en-GB" sz="8000" dirty="0">
                <a:latin typeface="Times New Roman" panose="02020603050405020304" pitchFamily="18" charset="0"/>
                <a:cs typeface="Times New Roman" panose="02020603050405020304" pitchFamily="18" charset="0"/>
              </a:rPr>
              <a:t>. </a:t>
            </a:r>
            <a:r>
              <a:rPr lang="en-GB" sz="8000" dirty="0" err="1">
                <a:latin typeface="Times New Roman" panose="02020603050405020304" pitchFamily="18" charset="0"/>
                <a:cs typeface="Times New Roman" panose="02020603050405020304" pitchFamily="18" charset="0"/>
              </a:rPr>
              <a:t>B.Krishnaiah</a:t>
            </a:r>
            <a:endParaRPr lang="en-GB" sz="8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002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67302-B433-A06E-A291-2F214659E6F5}"/>
              </a:ext>
            </a:extLst>
          </p:cNvPr>
          <p:cNvSpPr>
            <a:spLocks noGrp="1"/>
          </p:cNvSpPr>
          <p:nvPr>
            <p:ph type="ctrTitle"/>
          </p:nvPr>
        </p:nvSpPr>
        <p:spPr>
          <a:xfrm>
            <a:off x="1751012" y="333633"/>
            <a:ext cx="8689976" cy="1087394"/>
          </a:xfrm>
        </p:spPr>
        <p:txBody>
          <a:bodyPr>
            <a:normAutofit/>
          </a:bodyPr>
          <a:lstStyle/>
          <a:p>
            <a:r>
              <a:rPr lang="en-GB" sz="4400" dirty="0">
                <a:solidFill>
                  <a:srgbClr val="FF0000"/>
                </a:solidFill>
                <a:latin typeface="Times New Roman" panose="02020603050405020304" pitchFamily="18" charset="0"/>
                <a:cs typeface="Times New Roman" panose="02020603050405020304" pitchFamily="18" charset="0"/>
              </a:rPr>
              <a:t>BATCH MEMBERS</a:t>
            </a:r>
            <a:endParaRPr lang="en-IN" sz="4400"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76FDB0F-A8C0-B3A0-C075-119991ADDF72}"/>
              </a:ext>
            </a:extLst>
          </p:cNvPr>
          <p:cNvSpPr>
            <a:spLocks noGrp="1"/>
          </p:cNvSpPr>
          <p:nvPr>
            <p:ph type="subTitle" idx="1"/>
          </p:nvPr>
        </p:nvSpPr>
        <p:spPr>
          <a:xfrm>
            <a:off x="1646081" y="1275784"/>
            <a:ext cx="8689976" cy="4843849"/>
          </a:xfrm>
        </p:spPr>
        <p:txBody>
          <a:bodyPr>
            <a:normAutofit/>
          </a:bodyPr>
          <a:lstStyle/>
          <a:p>
            <a:endParaRPr lang="en-GB" dirty="0">
              <a:solidFill>
                <a:schemeClr val="tx1"/>
              </a:solidFill>
              <a:latin typeface="Times New Roman" panose="02020603050405020304" pitchFamily="18" charset="0"/>
              <a:cs typeface="Times New Roman" panose="02020603050405020304" pitchFamily="18" charset="0"/>
            </a:endParaRPr>
          </a:p>
          <a:p>
            <a:r>
              <a:rPr lang="en-GB" sz="3600" dirty="0">
                <a:solidFill>
                  <a:schemeClr val="tx1"/>
                </a:solidFill>
                <a:latin typeface="Times New Roman" panose="02020603050405020304" pitchFamily="18" charset="0"/>
                <a:cs typeface="Times New Roman" panose="02020603050405020304" pitchFamily="18" charset="0"/>
              </a:rPr>
              <a:t>M.SHANKAR-Y22AIT475</a:t>
            </a:r>
          </a:p>
          <a:p>
            <a:r>
              <a:rPr lang="en-GB" sz="3600" dirty="0">
                <a:latin typeface="Times New Roman" panose="02020603050405020304" pitchFamily="18" charset="0"/>
                <a:cs typeface="Times New Roman" panose="02020603050405020304" pitchFamily="18" charset="0"/>
              </a:rPr>
              <a:t>N.SIVA KUMARI</a:t>
            </a:r>
            <a:r>
              <a:rPr lang="en-GB" sz="3600" dirty="0">
                <a:solidFill>
                  <a:schemeClr val="tx1"/>
                </a:solidFill>
                <a:latin typeface="Times New Roman" panose="02020603050405020304" pitchFamily="18" charset="0"/>
                <a:cs typeface="Times New Roman" panose="02020603050405020304" pitchFamily="18" charset="0"/>
              </a:rPr>
              <a:t>-Y22AIT484</a:t>
            </a:r>
          </a:p>
          <a:p>
            <a:r>
              <a:rPr lang="en-GB" sz="3600" dirty="0">
                <a:latin typeface="Times New Roman" panose="02020603050405020304" pitchFamily="18" charset="0"/>
                <a:cs typeface="Times New Roman" panose="02020603050405020304" pitchFamily="18" charset="0"/>
              </a:rPr>
              <a:t>Y.JITENDRA</a:t>
            </a:r>
            <a:r>
              <a:rPr lang="en-GB" sz="3600" dirty="0">
                <a:solidFill>
                  <a:schemeClr val="tx1"/>
                </a:solidFill>
                <a:latin typeface="Times New Roman" panose="02020603050405020304" pitchFamily="18" charset="0"/>
                <a:cs typeface="Times New Roman" panose="02020603050405020304" pitchFamily="18" charset="0"/>
              </a:rPr>
              <a:t>-Y22AIT527</a:t>
            </a:r>
          </a:p>
          <a:p>
            <a:r>
              <a:rPr lang="en-GB" sz="3600" dirty="0">
                <a:solidFill>
                  <a:schemeClr val="tx1"/>
                </a:solidFill>
                <a:latin typeface="Times New Roman" panose="02020603050405020304" pitchFamily="18" charset="0"/>
                <a:cs typeface="Times New Roman" panose="02020603050405020304" pitchFamily="18" charset="0"/>
              </a:rPr>
              <a:t>P</a:t>
            </a:r>
            <a:r>
              <a:rPr lang="en-GB" sz="3600" dirty="0">
                <a:latin typeface="Times New Roman" panose="02020603050405020304" pitchFamily="18" charset="0"/>
                <a:cs typeface="Times New Roman" panose="02020603050405020304" pitchFamily="18" charset="0"/>
              </a:rPr>
              <a:t>.LALITHA</a:t>
            </a:r>
            <a:r>
              <a:rPr lang="en-GB" sz="3600" dirty="0">
                <a:solidFill>
                  <a:schemeClr val="tx1"/>
                </a:solidFill>
                <a:latin typeface="Times New Roman" panose="02020603050405020304" pitchFamily="18" charset="0"/>
                <a:cs typeface="Times New Roman" panose="02020603050405020304" pitchFamily="18" charset="0"/>
              </a:rPr>
              <a:t>-Y22AIT490</a:t>
            </a:r>
          </a:p>
          <a:p>
            <a:endParaRPr lang="en-GB" dirty="0"/>
          </a:p>
          <a:p>
            <a:endParaRPr lang="en-IN" dirty="0"/>
          </a:p>
        </p:txBody>
      </p:sp>
    </p:spTree>
    <p:extLst>
      <p:ext uri="{BB962C8B-B14F-4D97-AF65-F5344CB8AC3E}">
        <p14:creationId xmlns:p14="http://schemas.microsoft.com/office/powerpoint/2010/main" val="665542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B1A05-19FB-959F-BC49-A85F73B440EA}"/>
              </a:ext>
            </a:extLst>
          </p:cNvPr>
          <p:cNvSpPr>
            <a:spLocks noGrp="1"/>
          </p:cNvSpPr>
          <p:nvPr>
            <p:ph type="title"/>
          </p:nvPr>
        </p:nvSpPr>
        <p:spPr/>
        <p:txBody>
          <a:bodyPr>
            <a:normAutofit/>
          </a:bodyPr>
          <a:lstStyle/>
          <a:p>
            <a:r>
              <a:rPr lang="en-GB" sz="4800" dirty="0">
                <a:solidFill>
                  <a:srgbClr val="FF0000"/>
                </a:solidFill>
                <a:latin typeface="Times New Roman" panose="02020603050405020304" pitchFamily="18" charset="0"/>
                <a:cs typeface="Times New Roman" panose="02020603050405020304" pitchFamily="18" charset="0"/>
              </a:rPr>
              <a:t>Title</a:t>
            </a:r>
            <a:endParaRPr lang="en-IN" sz="4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C9A855-EB15-FD58-FDCB-FDC07F4C021F}"/>
              </a:ext>
            </a:extLst>
          </p:cNvPr>
          <p:cNvSpPr>
            <a:spLocks noGrp="1"/>
          </p:cNvSpPr>
          <p:nvPr>
            <p:ph sz="quarter" idx="13"/>
          </p:nvPr>
        </p:nvSpPr>
        <p:spPr/>
        <p:txBody>
          <a:bodyPr>
            <a:normAutofit/>
          </a:bodyPr>
          <a:lstStyle/>
          <a:p>
            <a:pPr marL="0" indent="0">
              <a:buNone/>
            </a:pPr>
            <a:r>
              <a:rPr lang="en-GB" sz="4400" dirty="0">
                <a:solidFill>
                  <a:srgbClr val="00B0F0"/>
                </a:solidFill>
                <a:latin typeface="Times New Roman" panose="02020603050405020304" pitchFamily="18" charset="0"/>
                <a:cs typeface="Times New Roman" panose="02020603050405020304" pitchFamily="18" charset="0"/>
              </a:rPr>
              <a:t>AI BASED PRODUCT DEMAND AND SALES TREND ANALYSIS</a:t>
            </a:r>
          </a:p>
          <a:p>
            <a:pPr marL="0" indent="0">
              <a:buNone/>
            </a:pPr>
            <a:endParaRPr lang="en-IN" sz="4400" dirty="0">
              <a:solidFill>
                <a:schemeClr val="accent5"/>
              </a:solidFill>
            </a:endParaRPr>
          </a:p>
        </p:txBody>
      </p:sp>
    </p:spTree>
    <p:extLst>
      <p:ext uri="{BB962C8B-B14F-4D97-AF65-F5344CB8AC3E}">
        <p14:creationId xmlns:p14="http://schemas.microsoft.com/office/powerpoint/2010/main" val="1399681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B6072-A598-2428-0C01-70CDF58AFDB3}"/>
              </a:ext>
            </a:extLst>
          </p:cNvPr>
          <p:cNvSpPr>
            <a:spLocks noGrp="1"/>
          </p:cNvSpPr>
          <p:nvPr>
            <p:ph type="title"/>
          </p:nvPr>
        </p:nvSpPr>
        <p:spPr>
          <a:xfrm>
            <a:off x="913775" y="308920"/>
            <a:ext cx="10364452" cy="746102"/>
          </a:xfrm>
        </p:spPr>
        <p:txBody>
          <a:bodyPr>
            <a:normAutofit/>
          </a:bodyPr>
          <a:lstStyle/>
          <a:p>
            <a:r>
              <a:rPr lang="en-GB" dirty="0">
                <a:solidFill>
                  <a:srgbClr val="FF0000"/>
                </a:solidFill>
              </a:rPr>
              <a:t>Table of contents</a:t>
            </a:r>
            <a:endParaRPr lang="en-IN" dirty="0">
              <a:solidFill>
                <a:srgbClr val="FF0000"/>
              </a:solidFill>
            </a:endParaRPr>
          </a:p>
        </p:txBody>
      </p:sp>
      <p:sp>
        <p:nvSpPr>
          <p:cNvPr id="3" name="Text Placeholder 2">
            <a:extLst>
              <a:ext uri="{FF2B5EF4-FFF2-40B4-BE49-F238E27FC236}">
                <a16:creationId xmlns:a16="http://schemas.microsoft.com/office/drawing/2014/main" id="{A59F8586-0CC8-114A-23B2-8FE75C64A760}"/>
              </a:ext>
            </a:extLst>
          </p:cNvPr>
          <p:cNvSpPr>
            <a:spLocks noGrp="1"/>
          </p:cNvSpPr>
          <p:nvPr>
            <p:ph type="body" sz="half" idx="2"/>
          </p:nvPr>
        </p:nvSpPr>
        <p:spPr>
          <a:xfrm>
            <a:off x="913774" y="1417320"/>
            <a:ext cx="5182226" cy="4709160"/>
          </a:xfrm>
        </p:spPr>
        <p:txBody>
          <a:bodyPr>
            <a:normAutofit/>
          </a:bodyPr>
          <a:lstStyle/>
          <a:p>
            <a:pPr marL="285750" indent="-285750" algn="l">
              <a:buFont typeface="Wingdings" panose="05000000000000000000" pitchFamily="2" charset="2"/>
              <a:buChar char="Ø"/>
            </a:pPr>
            <a:r>
              <a:rPr lang="en-GB" sz="3200" cap="none" dirty="0">
                <a:latin typeface="Times New Roman" panose="02020603050405020304" pitchFamily="18" charset="0"/>
                <a:cs typeface="Times New Roman" panose="02020603050405020304" pitchFamily="18" charset="0"/>
              </a:rPr>
              <a:t>Abstract</a:t>
            </a:r>
          </a:p>
          <a:p>
            <a:pPr marL="285750" indent="-285750" algn="l">
              <a:buFont typeface="Wingdings" panose="05000000000000000000" pitchFamily="2" charset="2"/>
              <a:buChar char="Ø"/>
            </a:pPr>
            <a:r>
              <a:rPr lang="en-GB" sz="3200" cap="none" dirty="0">
                <a:latin typeface="Times New Roman" panose="02020603050405020304" pitchFamily="18" charset="0"/>
                <a:cs typeface="Times New Roman" panose="02020603050405020304" pitchFamily="18" charset="0"/>
              </a:rPr>
              <a:t>System architecture</a:t>
            </a:r>
          </a:p>
          <a:p>
            <a:pPr marL="285750" indent="-285750" algn="l">
              <a:buFont typeface="Wingdings" panose="05000000000000000000" pitchFamily="2" charset="2"/>
              <a:buChar char="Ø"/>
            </a:pPr>
            <a:r>
              <a:rPr lang="en-GB" sz="3200" cap="none" dirty="0">
                <a:latin typeface="Times New Roman" panose="02020603050405020304" pitchFamily="18" charset="0"/>
                <a:cs typeface="Times New Roman" panose="02020603050405020304" pitchFamily="18" charset="0"/>
              </a:rPr>
              <a:t>Methodology</a:t>
            </a:r>
          </a:p>
          <a:p>
            <a:pPr marL="285750" indent="-285750" algn="l">
              <a:buFont typeface="Wingdings" panose="05000000000000000000" pitchFamily="2" charset="2"/>
              <a:buChar char="Ø"/>
            </a:pPr>
            <a:r>
              <a:rPr lang="en-GB" sz="3200" cap="none" dirty="0">
                <a:latin typeface="Times New Roman" panose="02020603050405020304" pitchFamily="18" charset="0"/>
                <a:cs typeface="Times New Roman" panose="02020603050405020304" pitchFamily="18" charset="0"/>
              </a:rPr>
              <a:t>Partial implementation</a:t>
            </a:r>
          </a:p>
          <a:p>
            <a:pPr algn="l"/>
            <a:endParaRPr lang="en-GB" sz="3200" cap="none"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endParaRPr lang="en-GB" sz="4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GB" sz="2400" dirty="0"/>
          </a:p>
          <a:p>
            <a:pPr marL="285750" indent="-285750">
              <a:buFont typeface="Wingdings" panose="05000000000000000000" pitchFamily="2" charset="2"/>
              <a:buChar char="Ø"/>
            </a:pPr>
            <a:endParaRPr lang="en-GB" sz="2400" dirty="0"/>
          </a:p>
        </p:txBody>
      </p:sp>
    </p:spTree>
    <p:extLst>
      <p:ext uri="{BB962C8B-B14F-4D97-AF65-F5344CB8AC3E}">
        <p14:creationId xmlns:p14="http://schemas.microsoft.com/office/powerpoint/2010/main" val="146102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BEA3DB-7A84-911E-2743-E83D284C3315}"/>
              </a:ext>
            </a:extLst>
          </p:cNvPr>
          <p:cNvSpPr>
            <a:spLocks noGrp="1"/>
          </p:cNvSpPr>
          <p:nvPr>
            <p:ph type="title"/>
          </p:nvPr>
        </p:nvSpPr>
        <p:spPr>
          <a:xfrm>
            <a:off x="913774" y="0"/>
            <a:ext cx="10364451" cy="1596177"/>
          </a:xfrm>
        </p:spPr>
        <p:txBody>
          <a:bodyPr/>
          <a:lstStyle/>
          <a:p>
            <a:r>
              <a:rPr lang="en-GB" dirty="0">
                <a:solidFill>
                  <a:srgbClr val="FF0000"/>
                </a:solidFill>
                <a:latin typeface="Times New Roman" panose="02020603050405020304" pitchFamily="18" charset="0"/>
                <a:cs typeface="Times New Roman" panose="02020603050405020304" pitchFamily="18" charset="0"/>
              </a:rPr>
              <a:t>ABSTRACT</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Content Placeholder 13">
            <a:extLst>
              <a:ext uri="{FF2B5EF4-FFF2-40B4-BE49-F238E27FC236}">
                <a16:creationId xmlns:a16="http://schemas.microsoft.com/office/drawing/2014/main" id="{84193205-7100-9668-3ECE-B63FDF8E9A57}"/>
              </a:ext>
            </a:extLst>
          </p:cNvPr>
          <p:cNvSpPr>
            <a:spLocks noGrp="1"/>
          </p:cNvSpPr>
          <p:nvPr>
            <p:ph sz="quarter" idx="13"/>
          </p:nvPr>
        </p:nvSpPr>
        <p:spPr>
          <a:xfrm>
            <a:off x="753136" y="1349116"/>
            <a:ext cx="10363826" cy="4901782"/>
          </a:xfrm>
        </p:spPr>
        <p:txBody>
          <a:bodyPr>
            <a:normAutofit fontScale="92500" lnSpcReduction="10000"/>
          </a:bodyPr>
          <a:lstStyle/>
          <a:p>
            <a:pPr algn="just"/>
            <a:r>
              <a:rPr lang="en-US" sz="1800" dirty="0"/>
              <a:t>This project focuses on predicting supermarket item sales for the next two months using historical sales data. Supermarkets generate large amounts of sales data every day, including product names, categories, quantities sold, and total sales amounts. Analyzing this data helps in understanding customer purchasing behavior and future demand.</a:t>
            </a:r>
          </a:p>
          <a:p>
            <a:pPr algn="just"/>
            <a:r>
              <a:rPr lang="en-US" sz="1800" dirty="0"/>
              <a:t>The main objective of this project is to analyze the previous two months of supermarket sales data and predict the items that are likely to be sold in the coming months. The dataset includes various categories such as grocery, dairy products, fruits, vegetables, snacks, and household items. By studying past sales patterns, the system estimates future sales trends.</a:t>
            </a:r>
          </a:p>
          <a:p>
            <a:pPr algn="just"/>
            <a:r>
              <a:rPr lang="en-US" sz="1800" dirty="0"/>
              <a:t>Sales prediction helps supermarkets maintain proper inventory levels, reduce stock shortages, and improve customer satisfaction. Essential products such as rice, milk, cooking oil, and sugar are expected to have consistent demand, while snacks and beverages may show moderate variation in sales.</a:t>
            </a:r>
          </a:p>
          <a:p>
            <a:pPr algn="just"/>
            <a:r>
              <a:rPr lang="en-US" sz="1800" dirty="0"/>
              <a:t>This project uses sales data analysis methods to forecast future sales and assist supermarket management in planning inventory efficiently. The prediction results help in better decision-making and improved supermarket operations.</a:t>
            </a:r>
          </a:p>
        </p:txBody>
      </p:sp>
    </p:spTree>
    <p:extLst>
      <p:ext uri="{BB962C8B-B14F-4D97-AF65-F5344CB8AC3E}">
        <p14:creationId xmlns:p14="http://schemas.microsoft.com/office/powerpoint/2010/main" val="3556483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ACDD5-26C8-CA1D-F4EA-BFB4E3600F50}"/>
              </a:ext>
            </a:extLst>
          </p:cNvPr>
          <p:cNvSpPr>
            <a:spLocks noGrp="1"/>
          </p:cNvSpPr>
          <p:nvPr>
            <p:ph type="title"/>
          </p:nvPr>
        </p:nvSpPr>
        <p:spPr>
          <a:xfrm>
            <a:off x="913775" y="-164891"/>
            <a:ext cx="10364451" cy="1648917"/>
          </a:xfrm>
        </p:spPr>
        <p:txBody>
          <a:bodyPr/>
          <a:lstStyle/>
          <a:p>
            <a:br>
              <a:rPr lang="en-GB" dirty="0">
                <a:solidFill>
                  <a:srgbClr val="FF0000"/>
                </a:solidFill>
                <a:latin typeface="Times New Roman" panose="02020603050405020304" pitchFamily="18" charset="0"/>
                <a:cs typeface="Times New Roman" panose="02020603050405020304" pitchFamily="18" charset="0"/>
              </a:rPr>
            </a:br>
            <a:br>
              <a:rPr lang="en-GB" dirty="0">
                <a:solidFill>
                  <a:srgbClr val="FF0000"/>
                </a:solidFill>
                <a:latin typeface="Times New Roman" panose="02020603050405020304" pitchFamily="18" charset="0"/>
                <a:cs typeface="Times New Roman" panose="02020603050405020304" pitchFamily="18" charset="0"/>
              </a:rPr>
            </a:br>
            <a:r>
              <a:rPr lang="en-GB" dirty="0">
                <a:solidFill>
                  <a:srgbClr val="FF0000"/>
                </a:solidFill>
                <a:latin typeface="Times New Roman" panose="02020603050405020304" pitchFamily="18" charset="0"/>
                <a:cs typeface="Times New Roman" panose="02020603050405020304" pitchFamily="18" charset="0"/>
              </a:rPr>
              <a:t>DOMAIN KNOWLEDGE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847C7F-41A7-1212-804A-C85A684D74E0}"/>
              </a:ext>
            </a:extLst>
          </p:cNvPr>
          <p:cNvSpPr>
            <a:spLocks noGrp="1"/>
          </p:cNvSpPr>
          <p:nvPr>
            <p:ph sz="quarter" idx="13"/>
          </p:nvPr>
        </p:nvSpPr>
        <p:spPr>
          <a:xfrm>
            <a:off x="913774" y="1094282"/>
            <a:ext cx="10363826" cy="5231567"/>
          </a:xfrm>
        </p:spPr>
        <p:txBody>
          <a:bodyPr>
            <a:normAutofit/>
          </a:bodyPr>
          <a:lstStyle/>
          <a:p>
            <a:endParaRPr lang="en-GB" sz="2200" b="1" cap="none" dirty="0">
              <a:latin typeface="Times New Roman" panose="02020603050405020304" pitchFamily="18" charset="0"/>
              <a:cs typeface="Times New Roman" panose="02020603050405020304" pitchFamily="18" charset="0"/>
            </a:endParaRPr>
          </a:p>
          <a:p>
            <a:endParaRPr lang="en-GB" sz="2200" b="1" cap="none" dirty="0">
              <a:latin typeface="Times New Roman" panose="02020603050405020304" pitchFamily="18" charset="0"/>
              <a:cs typeface="Times New Roman" panose="02020603050405020304" pitchFamily="18" charset="0"/>
            </a:endParaRPr>
          </a:p>
          <a:p>
            <a:r>
              <a:rPr lang="en-GB" sz="2200" b="1" cap="none" dirty="0">
                <a:latin typeface="Times New Roman" panose="02020603050405020304" pitchFamily="18" charset="0"/>
                <a:cs typeface="Times New Roman" panose="02020603050405020304" pitchFamily="18" charset="0"/>
              </a:rPr>
              <a:t> </a:t>
            </a:r>
            <a:r>
              <a:rPr lang="en-US" b="1" dirty="0">
                <a:solidFill>
                  <a:schemeClr val="accent1"/>
                </a:solidFill>
              </a:rPr>
              <a:t>1. Introduction</a:t>
            </a:r>
          </a:p>
          <a:p>
            <a:r>
              <a:rPr lang="en-US" dirty="0">
                <a:latin typeface="Times New Roman" panose="02020603050405020304" pitchFamily="18" charset="0"/>
                <a:cs typeface="Times New Roman" panose="02020603050405020304" pitchFamily="18" charset="0"/>
              </a:rPr>
              <a:t>Supermarket sales prediction is the process of estimating the number of items that will be sold in the future based on historical sales data. Supermarkets such as </a:t>
            </a:r>
            <a:r>
              <a:rPr lang="en-US" dirty="0" err="1">
                <a:latin typeface="Times New Roman" panose="02020603050405020304" pitchFamily="18" charset="0"/>
                <a:cs typeface="Times New Roman" panose="02020603050405020304" pitchFamily="18" charset="0"/>
              </a:rPr>
              <a:t>DMart</a:t>
            </a:r>
            <a:r>
              <a:rPr lang="en-US" dirty="0">
                <a:latin typeface="Times New Roman" panose="02020603050405020304" pitchFamily="18" charset="0"/>
                <a:cs typeface="Times New Roman" panose="02020603050405020304" pitchFamily="18" charset="0"/>
              </a:rPr>
              <a:t> and other retail stores use sales prediction to maintain proper inventory and avoid shortages or overstocking.</a:t>
            </a:r>
          </a:p>
          <a:p>
            <a:r>
              <a:rPr lang="en-US" dirty="0">
                <a:latin typeface="Times New Roman" panose="02020603050405020304" pitchFamily="18" charset="0"/>
                <a:cs typeface="Times New Roman" panose="02020603050405020304" pitchFamily="18" charset="0"/>
              </a:rPr>
              <a:t>Sales prediction helps store managers understand customer demand and plan stock levels efficiently. By analyzing previous sales data, we can predict the items that will be sold in the next two months</a:t>
            </a:r>
            <a:r>
              <a:rPr lang="en-US" dirty="0"/>
              <a:t>.</a:t>
            </a:r>
          </a:p>
          <a:p>
            <a:pPr marL="0" indent="0">
              <a:buNone/>
            </a:pP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1621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CB2015-C4ED-73BA-CD38-3D980056F25D}"/>
              </a:ext>
            </a:extLst>
          </p:cNvPr>
          <p:cNvSpPr txBox="1"/>
          <p:nvPr/>
        </p:nvSpPr>
        <p:spPr>
          <a:xfrm>
            <a:off x="1584960" y="170688"/>
            <a:ext cx="10265664" cy="9221105"/>
          </a:xfrm>
          <a:prstGeom prst="rect">
            <a:avLst/>
          </a:prstGeom>
          <a:noFill/>
        </p:spPr>
        <p:txBody>
          <a:bodyPr wrap="square">
            <a:spAutoFit/>
          </a:bodyPr>
          <a:lstStyle/>
          <a:p>
            <a:r>
              <a:rPr lang="en-US" b="1" dirty="0">
                <a:solidFill>
                  <a:schemeClr val="accent1"/>
                </a:solidFill>
              </a:rPr>
              <a:t>2. Supermarket Sales System</a:t>
            </a:r>
          </a:p>
          <a:p>
            <a:endParaRPr lang="en-US" dirty="0"/>
          </a:p>
          <a:p>
            <a:r>
              <a:rPr lang="en-US" dirty="0">
                <a:latin typeface="Times New Roman" panose="02020603050405020304" pitchFamily="18" charset="0"/>
                <a:cs typeface="Times New Roman" panose="02020603050405020304" pitchFamily="18" charset="0"/>
              </a:rPr>
              <a:t>A supermarket sales system records daily transactions including:</a:t>
            </a:r>
          </a:p>
          <a:p>
            <a:r>
              <a:rPr lang="en-US" dirty="0">
                <a:latin typeface="Times New Roman" panose="02020603050405020304" pitchFamily="18" charset="0"/>
                <a:cs typeface="Times New Roman" panose="02020603050405020304" pitchFamily="18" charset="0"/>
              </a:rPr>
              <a:t>Product Name</a:t>
            </a:r>
          </a:p>
          <a:p>
            <a:r>
              <a:rPr lang="en-US" dirty="0">
                <a:latin typeface="Times New Roman" panose="02020603050405020304" pitchFamily="18" charset="0"/>
                <a:cs typeface="Times New Roman" panose="02020603050405020304" pitchFamily="18" charset="0"/>
              </a:rPr>
              <a:t>Category</a:t>
            </a:r>
          </a:p>
          <a:p>
            <a:r>
              <a:rPr lang="en-US" dirty="0">
                <a:latin typeface="Times New Roman" panose="02020603050405020304" pitchFamily="18" charset="0"/>
                <a:cs typeface="Times New Roman" panose="02020603050405020304" pitchFamily="18" charset="0"/>
              </a:rPr>
              <a:t>Quantity Sold</a:t>
            </a:r>
          </a:p>
          <a:p>
            <a:r>
              <a:rPr lang="en-US" dirty="0">
                <a:latin typeface="Times New Roman" panose="02020603050405020304" pitchFamily="18" charset="0"/>
                <a:cs typeface="Times New Roman" panose="02020603050405020304" pitchFamily="18" charset="0"/>
              </a:rPr>
              <a:t>Price</a:t>
            </a:r>
          </a:p>
          <a:p>
            <a:r>
              <a:rPr lang="en-US" dirty="0">
                <a:latin typeface="Times New Roman" panose="02020603050405020304" pitchFamily="18" charset="0"/>
                <a:cs typeface="Times New Roman" panose="02020603050405020304" pitchFamily="18" charset="0"/>
              </a:rPr>
              <a:t>Date of Sale</a:t>
            </a:r>
          </a:p>
          <a:p>
            <a:r>
              <a:rPr lang="en-US" dirty="0">
                <a:latin typeface="Times New Roman" panose="02020603050405020304" pitchFamily="18" charset="0"/>
                <a:cs typeface="Times New Roman" panose="02020603050405020304" pitchFamily="18" charset="0"/>
              </a:rPr>
              <a:t>Total Amount</a:t>
            </a:r>
          </a:p>
          <a:p>
            <a:r>
              <a:rPr lang="en-US" dirty="0">
                <a:latin typeface="Times New Roman" panose="02020603050405020304" pitchFamily="18" charset="0"/>
                <a:cs typeface="Times New Roman" panose="02020603050405020304" pitchFamily="18" charset="0"/>
              </a:rPr>
              <a:t>Payment Method</a:t>
            </a:r>
          </a:p>
          <a:p>
            <a:r>
              <a:rPr lang="en-US" dirty="0">
                <a:latin typeface="Times New Roman" panose="02020603050405020304" pitchFamily="18" charset="0"/>
                <a:cs typeface="Times New Roman" panose="02020603050405020304" pitchFamily="18" charset="0"/>
              </a:rPr>
              <a:t>These details help in analyzing customer buying patterns.</a:t>
            </a:r>
          </a:p>
          <a:p>
            <a:r>
              <a:rPr lang="en-US" dirty="0">
                <a:latin typeface="Times New Roman" panose="02020603050405020304" pitchFamily="18" charset="0"/>
                <a:cs typeface="Times New Roman" panose="02020603050405020304" pitchFamily="18" charset="0"/>
              </a:rPr>
              <a:t>Your system stores sales data and allows prediction using historical data. The system records product sales and calculates totals automatically.</a:t>
            </a:r>
          </a:p>
          <a:p>
            <a:pPr>
              <a:buNone/>
            </a:pPr>
            <a:endParaRPr lang="en-US" dirty="0"/>
          </a:p>
          <a:p>
            <a:r>
              <a:rPr lang="en-US" b="1" dirty="0">
                <a:solidFill>
                  <a:schemeClr val="accent1"/>
                </a:solidFill>
              </a:rPr>
              <a:t>3. Importance of Sales Prediction</a:t>
            </a:r>
          </a:p>
          <a:p>
            <a:endParaRPr lang="en-US" b="1" dirty="0"/>
          </a:p>
          <a:p>
            <a:r>
              <a:rPr lang="en-US" dirty="0">
                <a:latin typeface="Times New Roman" panose="02020603050405020304" pitchFamily="18" charset="0"/>
                <a:cs typeface="Times New Roman" panose="02020603050405020304" pitchFamily="18" charset="0"/>
              </a:rPr>
              <a:t>Sales prediction is important because:</a:t>
            </a:r>
          </a:p>
          <a:p>
            <a:r>
              <a:rPr lang="en-US" dirty="0">
                <a:latin typeface="Times New Roman" panose="02020603050405020304" pitchFamily="18" charset="0"/>
                <a:cs typeface="Times New Roman" panose="02020603050405020304" pitchFamily="18" charset="0"/>
              </a:rPr>
              <a:t>📦 Helps maintain proper stock levels</a:t>
            </a:r>
          </a:p>
          <a:p>
            <a:r>
              <a:rPr lang="en-US" dirty="0">
                <a:latin typeface="Times New Roman" panose="02020603050405020304" pitchFamily="18" charset="0"/>
                <a:cs typeface="Times New Roman" panose="02020603050405020304" pitchFamily="18" charset="0"/>
              </a:rPr>
              <a:t>💰 Improves profit planning</a:t>
            </a:r>
          </a:p>
          <a:p>
            <a:r>
              <a:rPr lang="en-US" dirty="0">
                <a:latin typeface="Times New Roman" panose="02020603050405020304" pitchFamily="18" charset="0"/>
                <a:cs typeface="Times New Roman" panose="02020603050405020304" pitchFamily="18" charset="0"/>
              </a:rPr>
              <a:t>📊 Helps understand customer demand</a:t>
            </a:r>
          </a:p>
          <a:p>
            <a:r>
              <a:rPr lang="en-US" dirty="0">
                <a:latin typeface="Times New Roman" panose="02020603050405020304" pitchFamily="18" charset="0"/>
                <a:cs typeface="Times New Roman" panose="02020603050405020304" pitchFamily="18" charset="0"/>
              </a:rPr>
              <a:t>🏬 Reduces product shortages</a:t>
            </a:r>
          </a:p>
          <a:p>
            <a:r>
              <a:rPr lang="en-US" dirty="0">
                <a:latin typeface="Times New Roman" panose="02020603050405020304" pitchFamily="18" charset="0"/>
                <a:cs typeface="Times New Roman" panose="02020603050405020304" pitchFamily="18" charset="0"/>
              </a:rPr>
              <a:t>🛒 Improves supermarket management</a:t>
            </a:r>
          </a:p>
          <a:p>
            <a:r>
              <a:rPr lang="en-US" dirty="0">
                <a:latin typeface="Times New Roman" panose="02020603050405020304" pitchFamily="18" charset="0"/>
                <a:cs typeface="Times New Roman" panose="02020603050405020304" pitchFamily="18" charset="0"/>
              </a:rPr>
              <a:t>Supermarkets use prediction to ensure that essential items like rice, milk, and oil are always available.</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spTree>
    <p:extLst>
      <p:ext uri="{BB962C8B-B14F-4D97-AF65-F5344CB8AC3E}">
        <p14:creationId xmlns:p14="http://schemas.microsoft.com/office/powerpoint/2010/main" val="458566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C59107-AF17-31F4-DE10-7A2FD8BE6316}"/>
              </a:ext>
            </a:extLst>
          </p:cNvPr>
          <p:cNvSpPr txBox="1"/>
          <p:nvPr/>
        </p:nvSpPr>
        <p:spPr>
          <a:xfrm>
            <a:off x="1328928" y="290590"/>
            <a:ext cx="9534144" cy="5078313"/>
          </a:xfrm>
          <a:prstGeom prst="rect">
            <a:avLst/>
          </a:prstGeom>
          <a:noFill/>
        </p:spPr>
        <p:txBody>
          <a:bodyPr wrap="square">
            <a:spAutoFit/>
          </a:bodyPr>
          <a:lstStyle/>
          <a:p>
            <a:pPr>
              <a:buNone/>
            </a:pPr>
            <a:r>
              <a:rPr lang="en-US" b="1" dirty="0">
                <a:solidFill>
                  <a:schemeClr val="accent1"/>
                </a:solidFill>
              </a:rPr>
              <a:t>4. Sales Prediction Method</a:t>
            </a:r>
          </a:p>
          <a:p>
            <a:pPr>
              <a:buNone/>
            </a:pPr>
            <a:endParaRPr lang="en-US" b="1" dirty="0"/>
          </a:p>
          <a:p>
            <a:pPr>
              <a:buNone/>
            </a:pPr>
            <a:r>
              <a:rPr lang="en-US" dirty="0">
                <a:latin typeface="Times New Roman" panose="02020603050405020304" pitchFamily="18" charset="0"/>
                <a:cs typeface="Times New Roman" panose="02020603050405020304" pitchFamily="18" charset="0"/>
              </a:rPr>
              <a:t>The prediction of next 2 months sales is based on:</a:t>
            </a:r>
          </a:p>
          <a:p>
            <a:pPr>
              <a:buFont typeface="+mj-lt"/>
              <a:buAutoNum type="arabicPeriod"/>
            </a:pPr>
            <a:r>
              <a:rPr lang="en-US" dirty="0">
                <a:latin typeface="Times New Roman" panose="02020603050405020304" pitchFamily="18" charset="0"/>
                <a:cs typeface="Times New Roman" panose="02020603050405020304" pitchFamily="18" charset="0"/>
              </a:rPr>
              <a:t>Previous 2 months sales data</a:t>
            </a:r>
          </a:p>
          <a:p>
            <a:pPr>
              <a:buFont typeface="+mj-lt"/>
              <a:buAutoNum type="arabicPeriod"/>
            </a:pPr>
            <a:r>
              <a:rPr lang="en-US" dirty="0">
                <a:latin typeface="Times New Roman" panose="02020603050405020304" pitchFamily="18" charset="0"/>
                <a:cs typeface="Times New Roman" panose="02020603050405020304" pitchFamily="18" charset="0"/>
              </a:rPr>
              <a:t>Average daily sales</a:t>
            </a:r>
          </a:p>
          <a:p>
            <a:pPr>
              <a:buFont typeface="+mj-lt"/>
              <a:buAutoNum type="arabicPeriod"/>
            </a:pPr>
            <a:r>
              <a:rPr lang="en-US" dirty="0">
                <a:latin typeface="Times New Roman" panose="02020603050405020304" pitchFamily="18" charset="0"/>
                <a:cs typeface="Times New Roman" panose="02020603050405020304" pitchFamily="18" charset="0"/>
              </a:rPr>
              <a:t>Monthly trends</a:t>
            </a:r>
          </a:p>
          <a:p>
            <a:pPr>
              <a:buFont typeface="+mj-lt"/>
              <a:buAutoNum type="arabicPeriod"/>
            </a:pPr>
            <a:r>
              <a:rPr lang="en-US" dirty="0">
                <a:latin typeface="Times New Roman" panose="02020603050405020304" pitchFamily="18" charset="0"/>
                <a:cs typeface="Times New Roman" panose="02020603050405020304" pitchFamily="18" charset="0"/>
              </a:rPr>
              <a:t>Frequently sold products</a:t>
            </a:r>
          </a:p>
          <a:p>
            <a:pPr>
              <a:buNone/>
            </a:pPr>
            <a:r>
              <a:rPr lang="en-US" dirty="0">
                <a:latin typeface="Times New Roman" panose="02020603050405020304" pitchFamily="18" charset="0"/>
                <a:cs typeface="Times New Roman" panose="02020603050405020304" pitchFamily="18" charset="0"/>
              </a:rPr>
              <a:t>The prediction system calculates daily and monthly sales patterns and estimates future sales.</a:t>
            </a:r>
          </a:p>
          <a:p>
            <a:pPr>
              <a:buNone/>
            </a:pPr>
            <a:endParaRPr lang="en-US" dirty="0"/>
          </a:p>
          <a:p>
            <a:r>
              <a:rPr lang="en-US" b="1" dirty="0">
                <a:solidFill>
                  <a:schemeClr val="accent1"/>
                </a:solidFill>
              </a:rPr>
              <a:t>5. Benefits of Prediction System</a:t>
            </a:r>
          </a:p>
          <a:p>
            <a:endParaRPr lang="en-US" b="1" dirty="0"/>
          </a:p>
          <a:p>
            <a:r>
              <a:rPr lang="en-US" dirty="0">
                <a:latin typeface="Times New Roman" panose="02020603050405020304" pitchFamily="18" charset="0"/>
                <a:cs typeface="Times New Roman" panose="02020603050405020304" pitchFamily="18" charset="0"/>
              </a:rPr>
              <a:t>Benefits include:</a:t>
            </a:r>
          </a:p>
          <a:p>
            <a:r>
              <a:rPr lang="en-US" dirty="0">
                <a:latin typeface="Times New Roman" panose="02020603050405020304" pitchFamily="18" charset="0"/>
                <a:cs typeface="Times New Roman" panose="02020603050405020304" pitchFamily="18" charset="0"/>
              </a:rPr>
              <a:t>Better inventory management</a:t>
            </a:r>
          </a:p>
          <a:p>
            <a:r>
              <a:rPr lang="en-US" dirty="0">
                <a:latin typeface="Times New Roman" panose="02020603050405020304" pitchFamily="18" charset="0"/>
                <a:cs typeface="Times New Roman" panose="02020603050405020304" pitchFamily="18" charset="0"/>
              </a:rPr>
              <a:t>Reduced waste</a:t>
            </a:r>
          </a:p>
          <a:p>
            <a:r>
              <a:rPr lang="en-US" dirty="0">
                <a:latin typeface="Times New Roman" panose="02020603050405020304" pitchFamily="18" charset="0"/>
                <a:cs typeface="Times New Roman" panose="02020603050405020304" pitchFamily="18" charset="0"/>
              </a:rPr>
              <a:t>Increased profit</a:t>
            </a:r>
          </a:p>
          <a:p>
            <a:r>
              <a:rPr lang="en-US" dirty="0">
                <a:latin typeface="Times New Roman" panose="02020603050405020304" pitchFamily="18" charset="0"/>
                <a:cs typeface="Times New Roman" panose="02020603050405020304" pitchFamily="18" charset="0"/>
              </a:rPr>
              <a:t>Better customer satisfaction</a:t>
            </a:r>
          </a:p>
          <a:p>
            <a:r>
              <a:rPr lang="en-US" dirty="0">
                <a:latin typeface="Times New Roman" panose="02020603050405020304" pitchFamily="18" charset="0"/>
                <a:cs typeface="Times New Roman" panose="02020603050405020304" pitchFamily="18" charset="0"/>
              </a:rPr>
              <a:t>Easy decision making</a:t>
            </a:r>
          </a:p>
          <a:p>
            <a:pPr>
              <a:buNone/>
            </a:pPr>
            <a:endParaRPr lang="en-US" dirty="0"/>
          </a:p>
        </p:txBody>
      </p:sp>
    </p:spTree>
    <p:extLst>
      <p:ext uri="{BB962C8B-B14F-4D97-AF65-F5344CB8AC3E}">
        <p14:creationId xmlns:p14="http://schemas.microsoft.com/office/powerpoint/2010/main" val="275281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336FD2-D51B-F330-91AA-79D8674CDA5D}"/>
              </a:ext>
            </a:extLst>
          </p:cNvPr>
          <p:cNvPicPr>
            <a:picLocks noChangeAspect="1"/>
          </p:cNvPicPr>
          <p:nvPr/>
        </p:nvPicPr>
        <p:blipFill>
          <a:blip r:embed="rId2"/>
          <a:stretch>
            <a:fillRect/>
          </a:stretch>
        </p:blipFill>
        <p:spPr>
          <a:xfrm>
            <a:off x="3810000" y="865632"/>
            <a:ext cx="4572000" cy="5815584"/>
          </a:xfrm>
          <a:prstGeom prst="rect">
            <a:avLst/>
          </a:prstGeom>
        </p:spPr>
      </p:pic>
      <p:sp>
        <p:nvSpPr>
          <p:cNvPr id="5" name="TextBox 4">
            <a:extLst>
              <a:ext uri="{FF2B5EF4-FFF2-40B4-BE49-F238E27FC236}">
                <a16:creationId xmlns:a16="http://schemas.microsoft.com/office/drawing/2014/main" id="{05A0F411-8100-4F04-9F40-944EA7548BD6}"/>
              </a:ext>
            </a:extLst>
          </p:cNvPr>
          <p:cNvSpPr txBox="1"/>
          <p:nvPr/>
        </p:nvSpPr>
        <p:spPr>
          <a:xfrm>
            <a:off x="3486912" y="290822"/>
            <a:ext cx="7059168" cy="615553"/>
          </a:xfrm>
          <a:prstGeom prst="rect">
            <a:avLst/>
          </a:prstGeom>
          <a:noFill/>
        </p:spPr>
        <p:txBody>
          <a:bodyPr wrap="square">
            <a:spAutoFit/>
          </a:bodyPr>
          <a:lstStyle/>
          <a:p>
            <a:r>
              <a:rPr lang="en-GB" sz="3200" b="1" dirty="0">
                <a:solidFill>
                  <a:srgbClr val="FF0000"/>
                </a:solidFill>
                <a:latin typeface="Times New Roman" panose="02020603050405020304" pitchFamily="18" charset="0"/>
                <a:cs typeface="Times New Roman" panose="02020603050405020304" pitchFamily="18" charset="0"/>
              </a:rPr>
              <a:t>SYSTEM  ARCHITECTUR</a:t>
            </a:r>
            <a:r>
              <a:rPr lang="en-GB" sz="3400" b="1" dirty="0">
                <a:solidFill>
                  <a:srgbClr val="FF0000"/>
                </a:solidFill>
                <a:latin typeface="Times New Roman" panose="02020603050405020304" pitchFamily="18" charset="0"/>
                <a:cs typeface="Times New Roman" panose="02020603050405020304" pitchFamily="18" charset="0"/>
              </a:rPr>
              <a:t>E</a:t>
            </a:r>
            <a:endParaRPr lang="en-IN" sz="3400" b="1" dirty="0"/>
          </a:p>
        </p:txBody>
      </p:sp>
    </p:spTree>
    <p:extLst>
      <p:ext uri="{BB962C8B-B14F-4D97-AF65-F5344CB8AC3E}">
        <p14:creationId xmlns:p14="http://schemas.microsoft.com/office/powerpoint/2010/main" val="4131781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79BD3-C46B-063F-166D-A99F99F4E6A8}"/>
              </a:ext>
            </a:extLst>
          </p:cNvPr>
          <p:cNvSpPr>
            <a:spLocks noGrp="1"/>
          </p:cNvSpPr>
          <p:nvPr>
            <p:ph type="title"/>
          </p:nvPr>
        </p:nvSpPr>
        <p:spPr>
          <a:xfrm>
            <a:off x="913775" y="-284812"/>
            <a:ext cx="10364451" cy="1678898"/>
          </a:xfrm>
        </p:spPr>
        <p:txBody>
          <a:bodyPr/>
          <a:lstStyle/>
          <a:p>
            <a:r>
              <a:rPr lang="en-GB" cap="none" dirty="0">
                <a:solidFill>
                  <a:srgbClr val="FF0000"/>
                </a:solidFill>
                <a:latin typeface="Times New Roman" panose="02020603050405020304" pitchFamily="18" charset="0"/>
                <a:cs typeface="Times New Roman" panose="02020603050405020304" pitchFamily="18" charset="0"/>
              </a:rPr>
              <a:t>Methodology</a:t>
            </a:r>
            <a:r>
              <a:rPr lang="en-GB" dirty="0"/>
              <a:t> </a:t>
            </a:r>
            <a:endParaRPr lang="en-IN" dirty="0"/>
          </a:p>
        </p:txBody>
      </p:sp>
      <p:sp>
        <p:nvSpPr>
          <p:cNvPr id="3" name="Content Placeholder 2">
            <a:extLst>
              <a:ext uri="{FF2B5EF4-FFF2-40B4-BE49-F238E27FC236}">
                <a16:creationId xmlns:a16="http://schemas.microsoft.com/office/drawing/2014/main" id="{690D65E5-6505-1748-E5B4-E60E47CF0D8E}"/>
              </a:ext>
            </a:extLst>
          </p:cNvPr>
          <p:cNvSpPr>
            <a:spLocks noGrp="1"/>
          </p:cNvSpPr>
          <p:nvPr>
            <p:ph sz="quarter" idx="13"/>
          </p:nvPr>
        </p:nvSpPr>
        <p:spPr>
          <a:xfrm>
            <a:off x="913774" y="914400"/>
            <a:ext cx="10363826" cy="5591331"/>
          </a:xfrm>
        </p:spPr>
        <p:txBody>
          <a:bodyPr>
            <a:normAutofit/>
          </a:bodyPr>
          <a:lstStyle/>
          <a:p>
            <a:pPr marL="0" lvl="0" indent="0" eaLnBrk="0" fontAlgn="base" hangingPunct="0">
              <a:lnSpc>
                <a:spcPct val="100000"/>
              </a:lnSpc>
              <a:spcBef>
                <a:spcPct val="0"/>
              </a:spcBef>
              <a:spcAft>
                <a:spcPct val="0"/>
              </a:spcAft>
              <a:buFontTx/>
              <a:buChar char="•"/>
            </a:pPr>
            <a:r>
              <a:rPr lang="en-GB" b="1" cap="none" dirty="0"/>
              <a:t> </a:t>
            </a:r>
            <a:r>
              <a:rPr lang="en-US" altLang="en-US" dirty="0">
                <a:effectLst/>
                <a:latin typeface="Times New Roman" panose="02020603050405020304" pitchFamily="18" charset="0"/>
                <a:cs typeface="Times New Roman" panose="02020603050405020304" pitchFamily="18" charset="0"/>
              </a:rPr>
              <a:t>Sales data was collected from the supermarket billing records for the previous two months.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dataset includes product name, category, quantity sold, price, and date.</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collected data was stored in an Excel sheet for analysis.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data was cleaned by removing errors and organizing by date.</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Sales data was analyzed to identify frequently sold products.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Daily and monthly sales totals were calculated.</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Average quantity sold for each product was determined.</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Future sales were predicted based on past sales trends.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next two months item sales were estimated using average sales values.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prediction results help in planning supermarket inventory and stock management.</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Sales data was collected from the supermarket billing records for the previous two months.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dataset includes product name, category, quantity sold, price, and date.</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collected data was stored in an Excel sheet for analysis.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The data was cleaned by removing errors and organizing by date.</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Sales data was analyzed to identify frequently sold products.</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Daily and monthly sales totals were calculated.</a:t>
            </a:r>
          </a:p>
          <a:p>
            <a:pPr marL="0" lvl="0" indent="0" eaLnBrk="0" fontAlgn="base" hangingPunct="0">
              <a:lnSpc>
                <a:spcPct val="100000"/>
              </a:lnSpc>
              <a:spcBef>
                <a:spcPct val="0"/>
              </a:spcBef>
              <a:spcAft>
                <a:spcPct val="0"/>
              </a:spcAft>
              <a:buFontTx/>
              <a:buChar char="•"/>
            </a:pPr>
            <a:r>
              <a:rPr lang="en-US" altLang="en-US" dirty="0">
                <a:effectLst/>
                <a:latin typeface="Times New Roman" panose="02020603050405020304" pitchFamily="18" charset="0"/>
                <a:cs typeface="Times New Roman" panose="02020603050405020304" pitchFamily="18" charset="0"/>
              </a:rPr>
              <a:t>Average quantity sold for each product was determined.</a:t>
            </a:r>
          </a:p>
          <a:p>
            <a:endParaRPr lang="en-GB" cap="none" dirty="0">
              <a:latin typeface="Times New Roman" panose="02020603050405020304" pitchFamily="18" charset="0"/>
              <a:cs typeface="Times New Roman" panose="02020603050405020304" pitchFamily="18" charset="0"/>
            </a:endParaRPr>
          </a:p>
          <a:p>
            <a:pPr marL="0" indent="0">
              <a:buNone/>
            </a:pPr>
            <a:endParaRPr lang="en-IN" cap="none" dirty="0"/>
          </a:p>
          <a:p>
            <a:pPr marL="0" indent="0">
              <a:buNone/>
            </a:pPr>
            <a:endParaRPr lang="en-IN" dirty="0"/>
          </a:p>
          <a:p>
            <a:pPr marL="0" indent="0">
              <a:buNone/>
            </a:pPr>
            <a:endParaRPr lang="en-IN" cap="none" dirty="0"/>
          </a:p>
          <a:p>
            <a:pPr marL="0" indent="0">
              <a:buNone/>
            </a:pPr>
            <a:endParaRPr lang="en-IN" dirty="0"/>
          </a:p>
          <a:p>
            <a:pPr marL="0" indent="0">
              <a:buNone/>
            </a:pPr>
            <a:endParaRPr lang="en-IN" cap="none" dirty="0"/>
          </a:p>
        </p:txBody>
      </p:sp>
    </p:spTree>
    <p:extLst>
      <p:ext uri="{BB962C8B-B14F-4D97-AF65-F5344CB8AC3E}">
        <p14:creationId xmlns:p14="http://schemas.microsoft.com/office/powerpoint/2010/main" val="3354596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32F0F5-CA3A-CF54-7889-99017ABBBD2E}"/>
              </a:ext>
            </a:extLst>
          </p:cNvPr>
          <p:cNvSpPr>
            <a:spLocks noGrp="1"/>
          </p:cNvSpPr>
          <p:nvPr>
            <p:ph sz="quarter" idx="13"/>
          </p:nvPr>
        </p:nvSpPr>
        <p:spPr>
          <a:xfrm>
            <a:off x="913774" y="284814"/>
            <a:ext cx="10363826" cy="6340838"/>
          </a:xfrm>
        </p:spPr>
        <p:txBody>
          <a:bodyPr>
            <a:normAutofit/>
          </a:bodyPr>
          <a:lstStyle/>
          <a:p>
            <a:pPr marL="0" indent="0">
              <a:buNone/>
            </a:pPr>
            <a:r>
              <a:rPr lang="en-GB" b="1" cap="none" dirty="0">
                <a:latin typeface="Times New Roman" panose="02020603050405020304" pitchFamily="18" charset="0"/>
                <a:cs typeface="Times New Roman" panose="02020603050405020304" pitchFamily="18" charset="0"/>
              </a:rPr>
              <a:t> </a:t>
            </a:r>
            <a:r>
              <a:rPr lang="en-GB" sz="2400" b="1" cap="none" dirty="0">
                <a:solidFill>
                  <a:schemeClr val="accent1"/>
                </a:solidFill>
                <a:latin typeface="Times New Roman" panose="02020603050405020304" pitchFamily="18" charset="0"/>
                <a:cs typeface="Times New Roman" panose="02020603050405020304" pitchFamily="18" charset="0"/>
              </a:rPr>
              <a:t>Development </a:t>
            </a:r>
            <a:endParaRPr lang="en-IN" sz="2400" b="1" dirty="0">
              <a:solidFill>
                <a:schemeClr val="accent1"/>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Front End Tools Used: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HTML</a:t>
            </a:r>
          </a:p>
          <a:p>
            <a:r>
              <a:rPr lang="en-US" dirty="0">
                <a:latin typeface="Times New Roman" panose="02020603050405020304" pitchFamily="18" charset="0"/>
                <a:cs typeface="Times New Roman" panose="02020603050405020304" pitchFamily="18" charset="0"/>
              </a:rPr>
              <a:t>CSS</a:t>
            </a:r>
          </a:p>
          <a:p>
            <a:r>
              <a:rPr lang="en-US" dirty="0">
                <a:latin typeface="Times New Roman" panose="02020603050405020304" pitchFamily="18" charset="0"/>
                <a:cs typeface="Times New Roman" panose="02020603050405020304" pitchFamily="18" charset="0"/>
              </a:rPr>
              <a:t>JavaScript</a:t>
            </a:r>
          </a:p>
          <a:p>
            <a:r>
              <a:rPr lang="en-US" dirty="0">
                <a:latin typeface="Times New Roman" panose="02020603050405020304" pitchFamily="18" charset="0"/>
                <a:cs typeface="Times New Roman" panose="02020603050405020304" pitchFamily="18" charset="0"/>
              </a:rPr>
              <a:t>Web Pages or Excel Interface</a:t>
            </a:r>
          </a:p>
          <a:p>
            <a:pPr marL="0" indent="0">
              <a:buNone/>
            </a:pPr>
            <a:endParaRPr lang="en-IN" b="1" cap="none"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Back End Tools Used: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Python</a:t>
            </a:r>
          </a:p>
          <a:p>
            <a:r>
              <a:rPr lang="en-US" dirty="0">
                <a:latin typeface="Times New Roman" panose="02020603050405020304" pitchFamily="18" charset="0"/>
                <a:cs typeface="Times New Roman" panose="02020603050405020304" pitchFamily="18" charset="0"/>
              </a:rPr>
              <a:t>Database</a:t>
            </a:r>
          </a:p>
          <a:p>
            <a:r>
              <a:rPr lang="en-US" dirty="0">
                <a:latin typeface="Times New Roman" panose="02020603050405020304" pitchFamily="18" charset="0"/>
                <a:cs typeface="Times New Roman" panose="02020603050405020304" pitchFamily="18" charset="0"/>
              </a:rPr>
              <a:t>Data Processing Methods</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cap="none" dirty="0">
              <a:latin typeface="Times New Roman" panose="02020603050405020304" pitchFamily="18" charset="0"/>
              <a:cs typeface="Times New Roman" panose="02020603050405020304" pitchFamily="18" charset="0"/>
            </a:endParaRPr>
          </a:p>
          <a:p>
            <a:pPr marL="0" indent="0">
              <a:buNone/>
            </a:pPr>
            <a:endParaRPr lang="en-IN" b="1"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302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78DE4-55F9-6EBB-EA6E-0A828CA5D88C}"/>
              </a:ext>
            </a:extLst>
          </p:cNvPr>
          <p:cNvSpPr>
            <a:spLocks noGrp="1"/>
          </p:cNvSpPr>
          <p:nvPr>
            <p:ph type="title"/>
          </p:nvPr>
        </p:nvSpPr>
        <p:spPr>
          <a:xfrm>
            <a:off x="913775" y="-944379"/>
            <a:ext cx="10364451" cy="2578307"/>
          </a:xfrm>
        </p:spPr>
        <p:txBody>
          <a:bodyPr/>
          <a:lstStyle/>
          <a:p>
            <a:r>
              <a:rPr lang="en-GB" dirty="0">
                <a:solidFill>
                  <a:srgbClr val="FF0000"/>
                </a:solidFill>
                <a:latin typeface="Times New Roman" panose="02020603050405020304" pitchFamily="18" charset="0"/>
                <a:cs typeface="Times New Roman" panose="02020603050405020304" pitchFamily="18" charset="0"/>
              </a:rPr>
              <a:t>ALGORITHMS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66EC97-08A6-0F65-C21E-0B0ADAA8FC4A}"/>
              </a:ext>
            </a:extLst>
          </p:cNvPr>
          <p:cNvSpPr>
            <a:spLocks noGrp="1"/>
          </p:cNvSpPr>
          <p:nvPr>
            <p:ph sz="quarter" idx="13"/>
          </p:nvPr>
        </p:nvSpPr>
        <p:spPr>
          <a:xfrm>
            <a:off x="913774" y="914400"/>
            <a:ext cx="10363826" cy="5366479"/>
          </a:xfrm>
        </p:spPr>
        <p:txBody>
          <a:bodyPr>
            <a:normAutofit fontScale="92500" lnSpcReduction="10000"/>
          </a:bodyPr>
          <a:lstStyle/>
          <a:p>
            <a:pPr marL="0" indent="0">
              <a:buNone/>
            </a:pPr>
            <a:endParaRPr lang="en-IN" cap="none" dirty="0">
              <a:latin typeface="Times New Roman" panose="02020603050405020304" pitchFamily="18" charset="0"/>
              <a:cs typeface="Times New Roman" panose="02020603050405020304" pitchFamily="18" charset="0"/>
            </a:endParaRPr>
          </a:p>
          <a:p>
            <a:r>
              <a:rPr lang="en-US" b="1" dirty="0">
                <a:solidFill>
                  <a:schemeClr val="accent1"/>
                </a:solidFill>
              </a:rPr>
              <a:t>1. Average Sales Algorithm (Main Algorithm)</a:t>
            </a:r>
          </a:p>
          <a:p>
            <a:r>
              <a:rPr lang="en-US" dirty="0">
                <a:latin typeface="Times New Roman" panose="02020603050405020304" pitchFamily="18" charset="0"/>
                <a:cs typeface="Times New Roman" panose="02020603050405020304" pitchFamily="18" charset="0"/>
              </a:rPr>
              <a:t>The main algorithm used in this project is the </a:t>
            </a:r>
            <a:r>
              <a:rPr lang="en-US" b="1" dirty="0">
                <a:latin typeface="Times New Roman" panose="02020603050405020304" pitchFamily="18" charset="0"/>
                <a:cs typeface="Times New Roman" panose="02020603050405020304" pitchFamily="18" charset="0"/>
              </a:rPr>
              <a:t>Average Sales Method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This method predicts future sales based on past sales data.</a:t>
            </a:r>
          </a:p>
          <a:p>
            <a:r>
              <a:rPr lang="en-US" b="1" dirty="0">
                <a:latin typeface="Times New Roman" panose="02020603050405020304" pitchFamily="18" charset="0"/>
                <a:cs typeface="Times New Roman" panose="02020603050405020304" pitchFamily="18" charset="0"/>
              </a:rPr>
              <a:t>Formula:</a:t>
            </a:r>
          </a:p>
          <a:p>
            <a:r>
              <a:rPr lang="en-US" b="1" dirty="0">
                <a:latin typeface="Times New Roman" panose="02020603050405020304" pitchFamily="18" charset="0"/>
                <a:cs typeface="Times New Roman" panose="02020603050405020304" pitchFamily="18" charset="0"/>
              </a:rPr>
              <a:t>Average Sales = Total Quantity Sold ÷ Number of Days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Predicted Sales = Average Sales × Future Days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Rice sold = 300 units in 60 days</a:t>
            </a:r>
          </a:p>
          <a:p>
            <a:r>
              <a:rPr lang="en-US" dirty="0">
                <a:latin typeface="Times New Roman" panose="02020603050405020304" pitchFamily="18" charset="0"/>
                <a:cs typeface="Times New Roman" panose="02020603050405020304" pitchFamily="18" charset="0"/>
              </a:rPr>
              <a:t>Average Sales = 300 ÷ 60 = 5 units per day</a:t>
            </a:r>
          </a:p>
          <a:p>
            <a:r>
              <a:rPr lang="en-US" dirty="0">
                <a:latin typeface="Times New Roman" panose="02020603050405020304" pitchFamily="18" charset="0"/>
                <a:cs typeface="Times New Roman" panose="02020603050405020304" pitchFamily="18" charset="0"/>
              </a:rPr>
              <a:t>Prediction for next 60 days = 5 × 60 = 300 units</a:t>
            </a:r>
          </a:p>
          <a:p>
            <a:r>
              <a:rPr lang="en-US" dirty="0">
                <a:latin typeface="Times New Roman" panose="02020603050405020304" pitchFamily="18" charset="0"/>
                <a:cs typeface="Times New Roman" panose="02020603050405020304" pitchFamily="18" charset="0"/>
              </a:rPr>
              <a:t>This method is simple and suitable for supermarket sales prediction</a:t>
            </a:r>
          </a:p>
          <a:p>
            <a:pPr marL="0" indent="0">
              <a:buNone/>
            </a:pP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0238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3C629D-EC3E-0D46-0CFC-0623450FE798}"/>
              </a:ext>
            </a:extLst>
          </p:cNvPr>
          <p:cNvSpPr txBox="1"/>
          <p:nvPr/>
        </p:nvSpPr>
        <p:spPr>
          <a:xfrm>
            <a:off x="1365504" y="420315"/>
            <a:ext cx="7693152" cy="5632311"/>
          </a:xfrm>
          <a:prstGeom prst="rect">
            <a:avLst/>
          </a:prstGeom>
          <a:noFill/>
        </p:spPr>
        <p:txBody>
          <a:bodyPr wrap="square">
            <a:spAutoFit/>
          </a:bodyPr>
          <a:lstStyle/>
          <a:p>
            <a:pPr>
              <a:buNone/>
            </a:pPr>
            <a:r>
              <a:rPr lang="en-US" b="1" dirty="0">
                <a:solidFill>
                  <a:schemeClr val="accent1"/>
                </a:solidFill>
              </a:rPr>
              <a:t>2. Trend Analysis Algorithm</a:t>
            </a:r>
          </a:p>
          <a:p>
            <a:pPr>
              <a:buNone/>
            </a:pPr>
            <a:endParaRPr lang="en-US" b="1" dirty="0">
              <a:solidFill>
                <a:schemeClr val="accent1"/>
              </a:solidFill>
            </a:endParaRPr>
          </a:p>
          <a:p>
            <a:pPr>
              <a:buNone/>
            </a:pPr>
            <a:r>
              <a:rPr lang="en-US" dirty="0">
                <a:latin typeface="Times New Roman" panose="02020603050405020304" pitchFamily="18" charset="0"/>
                <a:cs typeface="Times New Roman" panose="02020603050405020304" pitchFamily="18" charset="0"/>
              </a:rPr>
              <a:t>Trend analysis is used to study past sales patterns.</a:t>
            </a:r>
          </a:p>
          <a:p>
            <a:pPr>
              <a:buNone/>
            </a:pPr>
            <a:r>
              <a:rPr lang="en-US" dirty="0">
                <a:latin typeface="Times New Roman" panose="02020603050405020304" pitchFamily="18" charset="0"/>
                <a:cs typeface="Times New Roman" panose="02020603050405020304" pitchFamily="18" charset="0"/>
              </a:rPr>
              <a:t>It helps to identify: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selling products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 selling products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Monthly sales growth</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 demand patterns</a:t>
            </a:r>
          </a:p>
          <a:p>
            <a:pPr>
              <a:buNone/>
            </a:pPr>
            <a:r>
              <a:rPr lang="en-US" dirty="0">
                <a:latin typeface="Times New Roman" panose="02020603050405020304" pitchFamily="18" charset="0"/>
                <a:cs typeface="Times New Roman" panose="02020603050405020304" pitchFamily="18" charset="0"/>
              </a:rPr>
              <a:t>The system analyzes previous sales data to understand trends.</a:t>
            </a:r>
          </a:p>
          <a:p>
            <a:pPr>
              <a:buNone/>
            </a:pPr>
            <a:endParaRPr lang="en-US" dirty="0">
              <a:latin typeface="Times New Roman" panose="02020603050405020304" pitchFamily="18" charset="0"/>
              <a:cs typeface="Times New Roman" panose="02020603050405020304" pitchFamily="18" charset="0"/>
            </a:endParaRPr>
          </a:p>
          <a:p>
            <a:r>
              <a:rPr lang="en-US" b="1" dirty="0">
                <a:solidFill>
                  <a:schemeClr val="accent1"/>
                </a:solidFill>
              </a:rPr>
              <a:t>3. Summation Algorithm</a:t>
            </a:r>
          </a:p>
          <a:p>
            <a:endParaRPr lang="en-US" b="1" dirty="0">
              <a:solidFill>
                <a:schemeClr val="accent1"/>
              </a:solidFill>
            </a:endParaRPr>
          </a:p>
          <a:p>
            <a:r>
              <a:rPr lang="en-US" dirty="0"/>
              <a:t>This algorithm calculates total sales.</a:t>
            </a:r>
          </a:p>
          <a:p>
            <a:r>
              <a:rPr lang="en-US" b="1" dirty="0"/>
              <a:t>Formula:</a:t>
            </a:r>
          </a:p>
          <a:p>
            <a:r>
              <a:rPr lang="en-US" b="1" dirty="0"/>
              <a:t>Total Sales = Sum of All Sales Amounts</a:t>
            </a:r>
            <a:endParaRPr lang="en-US" dirty="0"/>
          </a:p>
          <a:p>
            <a:r>
              <a:rPr lang="en-US" dirty="0"/>
              <a:t>It is used to calculate:</a:t>
            </a:r>
          </a:p>
          <a:p>
            <a:r>
              <a:rPr lang="en-US" dirty="0"/>
              <a:t>Daily sales</a:t>
            </a:r>
          </a:p>
          <a:p>
            <a:r>
              <a:rPr lang="en-US" dirty="0"/>
              <a:t>Monthly sales</a:t>
            </a:r>
          </a:p>
          <a:p>
            <a:r>
              <a:rPr lang="en-US" dirty="0"/>
              <a:t>Product-wise sales</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4058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A413FA-F006-D885-7332-D4C576B465FF}"/>
              </a:ext>
            </a:extLst>
          </p:cNvPr>
          <p:cNvSpPr>
            <a:spLocks noGrp="1"/>
          </p:cNvSpPr>
          <p:nvPr>
            <p:ph sz="quarter" idx="13"/>
          </p:nvPr>
        </p:nvSpPr>
        <p:spPr>
          <a:xfrm>
            <a:off x="913774" y="404734"/>
            <a:ext cx="10363826" cy="6086007"/>
          </a:xfrm>
        </p:spPr>
        <p:txBody>
          <a:bodyPr>
            <a:normAutofit fontScale="92500" lnSpcReduction="20000"/>
          </a:bodyPr>
          <a:lstStyle/>
          <a:p>
            <a:r>
              <a:rPr lang="en-IN" sz="2400" b="1" cap="none" dirty="0">
                <a:solidFill>
                  <a:schemeClr val="accent1"/>
                </a:solidFill>
                <a:latin typeface="Times New Roman" panose="02020603050405020304" pitchFamily="18" charset="0"/>
                <a:cs typeface="Times New Roman" panose="02020603050405020304" pitchFamily="18" charset="0"/>
              </a:rPr>
              <a:t> </a:t>
            </a:r>
            <a:r>
              <a:rPr lang="en-US" sz="2400" b="1" cap="none" dirty="0">
                <a:solidFill>
                  <a:schemeClr val="accent1"/>
                </a:solidFill>
                <a:latin typeface="Times New Roman" panose="02020603050405020304" pitchFamily="18" charset="0"/>
                <a:cs typeface="Times New Roman" panose="02020603050405020304" pitchFamily="18" charset="0"/>
              </a:rPr>
              <a:t>4</a:t>
            </a:r>
            <a:r>
              <a:rPr lang="en-US" b="1" dirty="0">
                <a:solidFill>
                  <a:schemeClr val="accent1"/>
                </a:solidFill>
              </a:rPr>
              <a:t>. Prediction Algorithm</a:t>
            </a:r>
          </a:p>
          <a:p>
            <a:r>
              <a:rPr lang="en-US" dirty="0">
                <a:latin typeface="Times New Roman" panose="02020603050405020304" pitchFamily="18" charset="0"/>
                <a:cs typeface="Times New Roman" panose="02020603050405020304" pitchFamily="18" charset="0"/>
              </a:rPr>
              <a:t>The prediction algorithm uses historical sales data to estimate future sales.</a:t>
            </a:r>
          </a:p>
          <a:p>
            <a:r>
              <a:rPr lang="en-US" dirty="0">
                <a:latin typeface="Times New Roman" panose="02020603050405020304" pitchFamily="18" charset="0"/>
                <a:cs typeface="Times New Roman" panose="02020603050405020304" pitchFamily="18" charset="0"/>
              </a:rPr>
              <a:t>Steps:</a:t>
            </a:r>
          </a:p>
          <a:p>
            <a:r>
              <a:rPr lang="en-US" dirty="0">
                <a:latin typeface="Times New Roman" panose="02020603050405020304" pitchFamily="18" charset="0"/>
                <a:cs typeface="Times New Roman" panose="02020603050405020304" pitchFamily="18" charset="0"/>
              </a:rPr>
              <a:t>Collect past sales data</a:t>
            </a:r>
          </a:p>
          <a:p>
            <a:r>
              <a:rPr lang="en-US" dirty="0">
                <a:latin typeface="Times New Roman" panose="02020603050405020304" pitchFamily="18" charset="0"/>
                <a:cs typeface="Times New Roman" panose="02020603050405020304" pitchFamily="18" charset="0"/>
              </a:rPr>
              <a:t>Calculate total quantity sold</a:t>
            </a:r>
          </a:p>
          <a:p>
            <a:r>
              <a:rPr lang="en-US" dirty="0">
                <a:latin typeface="Times New Roman" panose="02020603050405020304" pitchFamily="18" charset="0"/>
                <a:cs typeface="Times New Roman" panose="02020603050405020304" pitchFamily="18" charset="0"/>
              </a:rPr>
              <a:t>Calculate average sales</a:t>
            </a:r>
          </a:p>
          <a:p>
            <a:r>
              <a:rPr lang="en-US" dirty="0">
                <a:latin typeface="Times New Roman" panose="02020603050405020304" pitchFamily="18" charset="0"/>
                <a:cs typeface="Times New Roman" panose="02020603050405020304" pitchFamily="18" charset="0"/>
              </a:rPr>
              <a:t>Predict next two months sales</a:t>
            </a:r>
          </a:p>
          <a:p>
            <a:r>
              <a:rPr lang="en-US" b="1" dirty="0">
                <a:solidFill>
                  <a:schemeClr val="accent1"/>
                </a:solidFill>
              </a:rPr>
              <a:t>5.Simple Statistical Algorithm</a:t>
            </a:r>
          </a:p>
          <a:p>
            <a:r>
              <a:rPr lang="en-US" dirty="0"/>
              <a:t>Basic statistical calculations are used:</a:t>
            </a:r>
          </a:p>
          <a:p>
            <a:r>
              <a:rPr lang="en-US" dirty="0"/>
              <a:t>Average</a:t>
            </a:r>
          </a:p>
          <a:p>
            <a:r>
              <a:rPr lang="en-US" dirty="0"/>
              <a:t>Total</a:t>
            </a:r>
          </a:p>
          <a:p>
            <a:r>
              <a:rPr lang="en-US" dirty="0"/>
              <a:t>Maximum sales</a:t>
            </a:r>
          </a:p>
          <a:p>
            <a:r>
              <a:rPr lang="en-US" dirty="0"/>
              <a:t>Minimum sales</a:t>
            </a:r>
          </a:p>
          <a:p>
            <a:r>
              <a:rPr lang="en-US" dirty="0"/>
              <a:t>These calculations help in understanding sales behavior.</a:t>
            </a:r>
          </a:p>
          <a:p>
            <a:pPr marL="0" indent="0">
              <a:buNone/>
            </a:pP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728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CE844F01-D6A8-FECB-04DF-80496CB33A32}"/>
              </a:ext>
            </a:extLst>
          </p:cNvPr>
          <p:cNvSpPr>
            <a:spLocks noGrp="1"/>
          </p:cNvSpPr>
          <p:nvPr>
            <p:ph type="title"/>
          </p:nvPr>
        </p:nvSpPr>
        <p:spPr>
          <a:xfrm>
            <a:off x="1023078" y="83820"/>
            <a:ext cx="9875520" cy="1356360"/>
          </a:xfrm>
        </p:spPr>
        <p:txBody>
          <a:bodyPr/>
          <a:lstStyle/>
          <a:p>
            <a:r>
              <a:rPr lang="en-GB" dirty="0"/>
              <a:t>   </a:t>
            </a:r>
            <a:r>
              <a:rPr lang="en-GB" dirty="0">
                <a:solidFill>
                  <a:srgbClr val="FF0000"/>
                </a:solidFill>
              </a:rPr>
              <a:t>Partial Implementation</a:t>
            </a:r>
            <a:endParaRPr lang="en-IN" dirty="0">
              <a:solidFill>
                <a:srgbClr val="FF0000"/>
              </a:solidFill>
            </a:endParaRPr>
          </a:p>
        </p:txBody>
      </p:sp>
      <p:sp>
        <p:nvSpPr>
          <p:cNvPr id="3" name="Content Placeholder 2">
            <a:extLst>
              <a:ext uri="{FF2B5EF4-FFF2-40B4-BE49-F238E27FC236}">
                <a16:creationId xmlns:a16="http://schemas.microsoft.com/office/drawing/2014/main" id="{4532C917-A52D-61B7-BE0B-AF5E015F7E9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985F6C2-3F91-03B1-98C1-EDA18C78464D}"/>
              </a:ext>
            </a:extLst>
          </p:cNvPr>
          <p:cNvPicPr>
            <a:picLocks noChangeAspect="1"/>
          </p:cNvPicPr>
          <p:nvPr/>
        </p:nvPicPr>
        <p:blipFill>
          <a:blip r:embed="rId2"/>
          <a:stretch>
            <a:fillRect/>
          </a:stretch>
        </p:blipFill>
        <p:spPr>
          <a:xfrm>
            <a:off x="270088" y="1066800"/>
            <a:ext cx="11641175" cy="5496692"/>
          </a:xfrm>
          <a:prstGeom prst="rect">
            <a:avLst/>
          </a:prstGeom>
        </p:spPr>
      </p:pic>
    </p:spTree>
    <p:extLst>
      <p:ext uri="{BB962C8B-B14F-4D97-AF65-F5344CB8AC3E}">
        <p14:creationId xmlns:p14="http://schemas.microsoft.com/office/powerpoint/2010/main" val="1313223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83AF4-3E24-1B9F-7599-B1608F6CAE0E}"/>
              </a:ext>
            </a:extLst>
          </p:cNvPr>
          <p:cNvPicPr>
            <a:picLocks noChangeAspect="1"/>
          </p:cNvPicPr>
          <p:nvPr/>
        </p:nvPicPr>
        <p:blipFill>
          <a:blip r:embed="rId2"/>
          <a:stretch>
            <a:fillRect/>
          </a:stretch>
        </p:blipFill>
        <p:spPr>
          <a:xfrm>
            <a:off x="3133344" y="755904"/>
            <a:ext cx="5563344" cy="4778415"/>
          </a:xfrm>
          <a:prstGeom prst="rect">
            <a:avLst/>
          </a:prstGeom>
        </p:spPr>
      </p:pic>
    </p:spTree>
    <p:extLst>
      <p:ext uri="{BB962C8B-B14F-4D97-AF65-F5344CB8AC3E}">
        <p14:creationId xmlns:p14="http://schemas.microsoft.com/office/powerpoint/2010/main" val="3970887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705F8E-063A-9481-2237-81AA70BA7D9E}"/>
              </a:ext>
            </a:extLst>
          </p:cNvPr>
          <p:cNvPicPr>
            <a:picLocks noChangeAspect="1"/>
          </p:cNvPicPr>
          <p:nvPr/>
        </p:nvPicPr>
        <p:blipFill>
          <a:blip r:embed="rId2"/>
          <a:stretch>
            <a:fillRect/>
          </a:stretch>
        </p:blipFill>
        <p:spPr>
          <a:xfrm>
            <a:off x="249936" y="669662"/>
            <a:ext cx="11692128" cy="5518676"/>
          </a:xfrm>
          <a:prstGeom prst="rect">
            <a:avLst/>
          </a:prstGeom>
        </p:spPr>
      </p:pic>
    </p:spTree>
    <p:extLst>
      <p:ext uri="{BB962C8B-B14F-4D97-AF65-F5344CB8AC3E}">
        <p14:creationId xmlns:p14="http://schemas.microsoft.com/office/powerpoint/2010/main" val="3692969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56330D-8E41-4D4B-82BD-86D125EFC58D}"/>
              </a:ext>
            </a:extLst>
          </p:cNvPr>
          <p:cNvPicPr>
            <a:picLocks noChangeAspect="1"/>
          </p:cNvPicPr>
          <p:nvPr/>
        </p:nvPicPr>
        <p:blipFill>
          <a:blip r:embed="rId2"/>
          <a:stretch>
            <a:fillRect/>
          </a:stretch>
        </p:blipFill>
        <p:spPr>
          <a:xfrm>
            <a:off x="1890125" y="737812"/>
            <a:ext cx="8411749" cy="5382376"/>
          </a:xfrm>
          <a:prstGeom prst="rect">
            <a:avLst/>
          </a:prstGeom>
        </p:spPr>
      </p:pic>
    </p:spTree>
    <p:extLst>
      <p:ext uri="{BB962C8B-B14F-4D97-AF65-F5344CB8AC3E}">
        <p14:creationId xmlns:p14="http://schemas.microsoft.com/office/powerpoint/2010/main" val="3954729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0C05A2-787F-28AA-D19F-A3B02381F683}"/>
              </a:ext>
            </a:extLst>
          </p:cNvPr>
          <p:cNvPicPr>
            <a:picLocks noChangeAspect="1"/>
          </p:cNvPicPr>
          <p:nvPr/>
        </p:nvPicPr>
        <p:blipFill>
          <a:blip r:embed="rId2"/>
          <a:stretch>
            <a:fillRect/>
          </a:stretch>
        </p:blipFill>
        <p:spPr>
          <a:xfrm>
            <a:off x="164592" y="643260"/>
            <a:ext cx="11862816" cy="5595863"/>
          </a:xfrm>
          <a:prstGeom prst="rect">
            <a:avLst/>
          </a:prstGeom>
        </p:spPr>
      </p:pic>
    </p:spTree>
    <p:extLst>
      <p:ext uri="{BB962C8B-B14F-4D97-AF65-F5344CB8AC3E}">
        <p14:creationId xmlns:p14="http://schemas.microsoft.com/office/powerpoint/2010/main" val="2968083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222BAB-04CB-EEF7-A991-93CFF2DE0C86}"/>
              </a:ext>
            </a:extLst>
          </p:cNvPr>
          <p:cNvPicPr>
            <a:picLocks noChangeAspect="1"/>
          </p:cNvPicPr>
          <p:nvPr/>
        </p:nvPicPr>
        <p:blipFill>
          <a:blip r:embed="rId2"/>
          <a:stretch>
            <a:fillRect/>
          </a:stretch>
        </p:blipFill>
        <p:spPr>
          <a:xfrm>
            <a:off x="0" y="642919"/>
            <a:ext cx="12192000" cy="5572161"/>
          </a:xfrm>
          <a:prstGeom prst="rect">
            <a:avLst/>
          </a:prstGeom>
        </p:spPr>
      </p:pic>
    </p:spTree>
    <p:extLst>
      <p:ext uri="{BB962C8B-B14F-4D97-AF65-F5344CB8AC3E}">
        <p14:creationId xmlns:p14="http://schemas.microsoft.com/office/powerpoint/2010/main" val="243175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74BD9A-C2AD-B76D-B7A1-B3015D45CDE7}"/>
              </a:ext>
            </a:extLst>
          </p:cNvPr>
          <p:cNvSpPr>
            <a:spLocks noGrp="1"/>
          </p:cNvSpPr>
          <p:nvPr>
            <p:ph sz="quarter" idx="13"/>
          </p:nvPr>
        </p:nvSpPr>
        <p:spPr/>
        <p:txBody>
          <a:bodyPr/>
          <a:lstStyle/>
          <a:p>
            <a:endParaRPr lang="en-IN"/>
          </a:p>
        </p:txBody>
      </p:sp>
      <p:pic>
        <p:nvPicPr>
          <p:cNvPr id="6" name="Picture 5">
            <a:extLst>
              <a:ext uri="{FF2B5EF4-FFF2-40B4-BE49-F238E27FC236}">
                <a16:creationId xmlns:a16="http://schemas.microsoft.com/office/drawing/2014/main" id="{390AC0B7-42E4-3120-39C3-34CAA0981C36}"/>
              </a:ext>
            </a:extLst>
          </p:cNvPr>
          <p:cNvPicPr>
            <a:picLocks noChangeAspect="1"/>
          </p:cNvPicPr>
          <p:nvPr/>
        </p:nvPicPr>
        <p:blipFill>
          <a:blip r:embed="rId2"/>
          <a:stretch>
            <a:fillRect/>
          </a:stretch>
        </p:blipFill>
        <p:spPr>
          <a:xfrm>
            <a:off x="0" y="829504"/>
            <a:ext cx="12192000" cy="5198991"/>
          </a:xfrm>
          <a:prstGeom prst="rect">
            <a:avLst/>
          </a:prstGeom>
        </p:spPr>
      </p:pic>
    </p:spTree>
    <p:extLst>
      <p:ext uri="{BB962C8B-B14F-4D97-AF65-F5344CB8AC3E}">
        <p14:creationId xmlns:p14="http://schemas.microsoft.com/office/powerpoint/2010/main" val="875367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D01F30-5049-7F6B-E654-881767708EEB}"/>
              </a:ext>
            </a:extLst>
          </p:cNvPr>
          <p:cNvSpPr>
            <a:spLocks noGrp="1"/>
          </p:cNvSpPr>
          <p:nvPr>
            <p:ph sz="quarter" idx="13"/>
          </p:nvPr>
        </p:nvSpPr>
        <p:spPr/>
        <p:txBody>
          <a:bodyPr/>
          <a:lstStyle/>
          <a:p>
            <a:endParaRPr lang="en-IN"/>
          </a:p>
        </p:txBody>
      </p:sp>
      <p:pic>
        <p:nvPicPr>
          <p:cNvPr id="6" name="Picture 5">
            <a:extLst>
              <a:ext uri="{FF2B5EF4-FFF2-40B4-BE49-F238E27FC236}">
                <a16:creationId xmlns:a16="http://schemas.microsoft.com/office/drawing/2014/main" id="{6333FEC8-0AB5-58DD-AD3F-D78C41027EF4}"/>
              </a:ext>
            </a:extLst>
          </p:cNvPr>
          <p:cNvPicPr>
            <a:picLocks noChangeAspect="1"/>
          </p:cNvPicPr>
          <p:nvPr/>
        </p:nvPicPr>
        <p:blipFill>
          <a:blip r:embed="rId2"/>
          <a:stretch>
            <a:fillRect/>
          </a:stretch>
        </p:blipFill>
        <p:spPr>
          <a:xfrm>
            <a:off x="0" y="584567"/>
            <a:ext cx="12192000" cy="5713250"/>
          </a:xfrm>
          <a:prstGeom prst="rect">
            <a:avLst/>
          </a:prstGeom>
        </p:spPr>
      </p:pic>
    </p:spTree>
    <p:extLst>
      <p:ext uri="{BB962C8B-B14F-4D97-AF65-F5344CB8AC3E}">
        <p14:creationId xmlns:p14="http://schemas.microsoft.com/office/powerpoint/2010/main" val="1291605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89B5D5-9135-1050-DDE8-9E9114AEA84B}"/>
              </a:ext>
            </a:extLst>
          </p:cNvPr>
          <p:cNvPicPr>
            <a:picLocks noChangeAspect="1"/>
          </p:cNvPicPr>
          <p:nvPr/>
        </p:nvPicPr>
        <p:blipFill>
          <a:blip r:embed="rId2"/>
          <a:stretch>
            <a:fillRect/>
          </a:stretch>
        </p:blipFill>
        <p:spPr>
          <a:xfrm>
            <a:off x="0" y="583893"/>
            <a:ext cx="12192000" cy="5690214"/>
          </a:xfrm>
          <a:prstGeom prst="rect">
            <a:avLst/>
          </a:prstGeom>
        </p:spPr>
      </p:pic>
    </p:spTree>
    <p:extLst>
      <p:ext uri="{BB962C8B-B14F-4D97-AF65-F5344CB8AC3E}">
        <p14:creationId xmlns:p14="http://schemas.microsoft.com/office/powerpoint/2010/main" val="3046757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AB1297-CEA5-3E23-8A84-4252152FBE75}"/>
              </a:ext>
            </a:extLst>
          </p:cNvPr>
          <p:cNvPicPr>
            <a:picLocks noChangeAspect="1"/>
          </p:cNvPicPr>
          <p:nvPr/>
        </p:nvPicPr>
        <p:blipFill>
          <a:blip r:embed="rId2"/>
          <a:stretch>
            <a:fillRect/>
          </a:stretch>
        </p:blipFill>
        <p:spPr>
          <a:xfrm>
            <a:off x="0" y="650551"/>
            <a:ext cx="12192000" cy="5556898"/>
          </a:xfrm>
          <a:prstGeom prst="rect">
            <a:avLst/>
          </a:prstGeom>
        </p:spPr>
      </p:pic>
    </p:spTree>
    <p:extLst>
      <p:ext uri="{BB962C8B-B14F-4D97-AF65-F5344CB8AC3E}">
        <p14:creationId xmlns:p14="http://schemas.microsoft.com/office/powerpoint/2010/main" val="1466575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F99E48-9286-85F6-00C2-43B291C76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2200" y="1943100"/>
            <a:ext cx="4953000" cy="2641600"/>
          </a:xfrm>
          <a:prstGeom prst="rect">
            <a:avLst/>
          </a:prstGeom>
        </p:spPr>
      </p:pic>
    </p:spTree>
    <p:extLst>
      <p:ext uri="{BB962C8B-B14F-4D97-AF65-F5344CB8AC3E}">
        <p14:creationId xmlns:p14="http://schemas.microsoft.com/office/powerpoint/2010/main" val="5008892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1435</TotalTime>
  <Words>1005</Words>
  <PresentationFormat>Widescreen</PresentationFormat>
  <Paragraphs>164</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Algerian</vt:lpstr>
      <vt:lpstr>Arial</vt:lpstr>
      <vt:lpstr>Bookman Old Style</vt:lpstr>
      <vt:lpstr>Calibri</vt:lpstr>
      <vt:lpstr>Rockwell</vt:lpstr>
      <vt:lpstr>Times New Roman</vt:lpstr>
      <vt:lpstr>Wingdings</vt:lpstr>
      <vt:lpstr>Damask</vt:lpstr>
      <vt:lpstr>Bapatla engineering college::bapatla  (autonomous) department of information technology </vt:lpstr>
      <vt:lpstr>BATCH MEMBERS</vt:lpstr>
      <vt:lpstr>Title</vt:lpstr>
      <vt:lpstr>Table of contents</vt:lpstr>
      <vt:lpstr>ABSTRACT</vt:lpstr>
      <vt:lpstr>  DOMAIN KNOWLEDGE</vt:lpstr>
      <vt:lpstr>PowerPoint Presentation</vt:lpstr>
      <vt:lpstr>PowerPoint Presentation</vt:lpstr>
      <vt:lpstr>PowerPoint Presentation</vt:lpstr>
      <vt:lpstr>Methodology </vt:lpstr>
      <vt:lpstr>PowerPoint Presentation</vt:lpstr>
      <vt:lpstr>ALGORITHMS</vt:lpstr>
      <vt:lpstr>PowerPoint Presentation</vt:lpstr>
      <vt:lpstr>PowerPoint Presentation</vt:lpstr>
      <vt:lpstr>   Partial 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erms:created xsi:type="dcterms:W3CDTF">2026-01-28T03:47:30Z</dcterms:created>
  <dcterms:modified xsi:type="dcterms:W3CDTF">2026-02-26T20:40:48Z</dcterms:modified>
</cp:coreProperties>
</file>