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9"/>
  </p:notesMasterIdLst>
  <p:sldIdLst>
    <p:sldId id="256" r:id="rId2"/>
    <p:sldId id="257" r:id="rId3"/>
    <p:sldId id="258" r:id="rId4"/>
    <p:sldId id="259" r:id="rId5"/>
    <p:sldId id="260" r:id="rId6"/>
    <p:sldId id="261" r:id="rId7"/>
    <p:sldId id="262" r:id="rId8"/>
    <p:sldId id="263" r:id="rId9"/>
    <p:sldId id="265" r:id="rId10"/>
    <p:sldId id="302" r:id="rId11"/>
    <p:sldId id="267" r:id="rId12"/>
    <p:sldId id="271" r:id="rId13"/>
    <p:sldId id="282" r:id="rId14"/>
    <p:sldId id="300" r:id="rId15"/>
    <p:sldId id="305" r:id="rId16"/>
    <p:sldId id="306" r:id="rId17"/>
    <p:sldId id="307" r:id="rId18"/>
    <p:sldId id="308" r:id="rId19"/>
    <p:sldId id="309" r:id="rId20"/>
    <p:sldId id="310" r:id="rId21"/>
    <p:sldId id="311" r:id="rId22"/>
    <p:sldId id="312" r:id="rId23"/>
    <p:sldId id="313" r:id="rId24"/>
    <p:sldId id="303" r:id="rId25"/>
    <p:sldId id="299" r:id="rId26"/>
    <p:sldId id="297" r:id="rId27"/>
    <p:sldId id="29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9" d="100"/>
          <a:sy n="79" d="100"/>
        </p:scale>
        <p:origin x="42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C621F-5E46-4AC6-B2A4-C6A6B79540FF}" type="datetimeFigureOut">
              <a:rPr lang="en-IN"/>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F3051-5569-4645-AD54-AEDA4A6B8FC1}" type="slidenum">
              <a:rPr lang="en-IN"/>
              <a:t>‹#›</a:t>
            </a:fld>
            <a:endParaRPr lang="en-IN"/>
          </a:p>
        </p:txBody>
      </p:sp>
    </p:spTree>
    <p:extLst>
      <p:ext uri="{BB962C8B-B14F-4D97-AF65-F5344CB8AC3E}">
        <p14:creationId xmlns:p14="http://schemas.microsoft.com/office/powerpoint/2010/main" val="35319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4121426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10156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465458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4031901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40278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129553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07977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4233456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952691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1707643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06427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5579961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4225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953575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02227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61113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D3EFBE-7814-4E94-8536-52E51A3D289F}" type="datetimeFigureOut">
              <a:rPr lang="en-IN" smtClean="0"/>
              <a:pPr/>
              <a:t>11-04-2026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100AE6-8269-4E23-BC42-D00B2D9109A6}" type="slidenum">
              <a:rPr lang="en-IN" smtClean="0"/>
              <a:pPr/>
              <a:t>‹#›</a:t>
            </a:fld>
            <a:endParaRPr lang="en-IN"/>
          </a:p>
        </p:txBody>
      </p:sp>
    </p:spTree>
    <p:extLst>
      <p:ext uri="{BB962C8B-B14F-4D97-AF65-F5344CB8AC3E}">
        <p14:creationId xmlns:p14="http://schemas.microsoft.com/office/powerpoint/2010/main" val="15600252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8012E5-F408-9128-2ECC-C88593D0AF1B}"/>
              </a:ext>
            </a:extLst>
          </p:cNvPr>
          <p:cNvSpPr txBox="1"/>
          <p:nvPr/>
        </p:nvSpPr>
        <p:spPr>
          <a:xfrm>
            <a:off x="1431159" y="333513"/>
            <a:ext cx="8484433" cy="2308324"/>
          </a:xfrm>
          <a:prstGeom prst="rect">
            <a:avLst/>
          </a:prstGeom>
          <a:noFill/>
        </p:spPr>
        <p:txBody>
          <a:bodyPr wrap="square" rtlCol="0">
            <a:spAutoFit/>
          </a:bodyPr>
          <a:lstStyle/>
          <a:p>
            <a:r>
              <a:rPr lang="en-IN" sz="2400" dirty="0">
                <a:latin typeface="Algerian" panose="04020705040A02060702" pitchFamily="82" charset="0"/>
              </a:rPr>
              <a:t>       </a:t>
            </a:r>
            <a:r>
              <a:rPr lang="en-IN" sz="3600" dirty="0" err="1">
                <a:latin typeface="Times New Roman" panose="02020603050405020304" pitchFamily="18" charset="0"/>
                <a:cs typeface="Times New Roman" panose="02020603050405020304" pitchFamily="18" charset="0"/>
              </a:rPr>
              <a:t>Bapatla</a:t>
            </a:r>
            <a:r>
              <a:rPr lang="en-IN" sz="3600" dirty="0">
                <a:latin typeface="Times New Roman" panose="02020603050405020304" pitchFamily="18" charset="0"/>
                <a:cs typeface="Times New Roman" panose="02020603050405020304" pitchFamily="18" charset="0"/>
              </a:rPr>
              <a:t> Engineering College::</a:t>
            </a:r>
            <a:r>
              <a:rPr lang="en-IN" sz="3600" dirty="0" err="1">
                <a:latin typeface="Times New Roman" panose="02020603050405020304" pitchFamily="18" charset="0"/>
                <a:cs typeface="Times New Roman" panose="02020603050405020304" pitchFamily="18" charset="0"/>
              </a:rPr>
              <a:t>Bapatla</a:t>
            </a:r>
            <a:endParaRPr lang="en-IN" sz="3600" dirty="0">
              <a:latin typeface="Times New Roman" panose="02020603050405020304" pitchFamily="18" charset="0"/>
              <a:cs typeface="Times New Roman" panose="02020603050405020304" pitchFamily="18" charset="0"/>
            </a:endParaRPr>
          </a:p>
          <a:p>
            <a:pPr algn="ctr"/>
            <a:r>
              <a:rPr lang="en-IN" sz="3600" dirty="0">
                <a:latin typeface="Times New Roman" panose="02020603050405020304" pitchFamily="18" charset="0"/>
                <a:cs typeface="Times New Roman" panose="02020603050405020304" pitchFamily="18" charset="0"/>
              </a:rPr>
              <a:t>(Autonomous)</a:t>
            </a:r>
          </a:p>
          <a:p>
            <a:r>
              <a:rPr lang="en-IN" sz="3600" dirty="0">
                <a:latin typeface="Times New Roman" panose="02020603050405020304" pitchFamily="18" charset="0"/>
                <a:cs typeface="Times New Roman" panose="02020603050405020304" pitchFamily="18" charset="0"/>
              </a:rPr>
              <a:t>     Department of Information Technology</a:t>
            </a:r>
          </a:p>
          <a:p>
            <a:r>
              <a:rPr lang="en-IN" sz="36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50958BE5-ED3E-4064-8463-6BF1478ACA08}"/>
              </a:ext>
            </a:extLst>
          </p:cNvPr>
          <p:cNvSpPr txBox="1"/>
          <p:nvPr/>
        </p:nvSpPr>
        <p:spPr>
          <a:xfrm>
            <a:off x="2517285" y="4058455"/>
            <a:ext cx="6314549" cy="1754326"/>
          </a:xfrm>
          <a:prstGeom prst="rect">
            <a:avLst/>
          </a:prstGeom>
          <a:noFill/>
        </p:spPr>
        <p:txBody>
          <a:bodyPr wrap="none" rtlCol="0">
            <a:spAutoFit/>
          </a:bodyPr>
          <a:lstStyle/>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Under the Esteemed Guidance of</a:t>
            </a:r>
          </a:p>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GB" sz="3600" dirty="0">
                <a:latin typeface="Times New Roman" panose="02020603050405020304" pitchFamily="18" charset="0"/>
                <a:cs typeface="Times New Roman" panose="02020603050405020304" pitchFamily="18" charset="0"/>
              </a:rPr>
              <a:t> Dr. </a:t>
            </a:r>
            <a:r>
              <a:rPr lang="en-GB" sz="3600" dirty="0" err="1">
                <a:latin typeface="Times New Roman" panose="02020603050405020304" pitchFamily="18" charset="0"/>
                <a:cs typeface="Times New Roman" panose="02020603050405020304" pitchFamily="18" charset="0"/>
              </a:rPr>
              <a:t>B.Krishnaiah</a:t>
            </a:r>
            <a:endParaRPr lang="en-GB" sz="3600" dirty="0">
              <a:latin typeface="Times New Roman" panose="02020603050405020304" pitchFamily="18" charset="0"/>
              <a:cs typeface="Times New Roman" panose="02020603050405020304" pitchFamily="18" charset="0"/>
            </a:endParaRPr>
          </a:p>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292DEE5E-6371-6CEE-B4B1-53EB1040E001}"/>
              </a:ext>
            </a:extLst>
          </p:cNvPr>
          <p:cNvSpPr txBox="1"/>
          <p:nvPr/>
        </p:nvSpPr>
        <p:spPr>
          <a:xfrm>
            <a:off x="2178191" y="2641837"/>
            <a:ext cx="7167347" cy="923330"/>
          </a:xfrm>
          <a:prstGeom prst="rect">
            <a:avLst/>
          </a:prstGeom>
          <a:noFill/>
        </p:spPr>
        <p:txBody>
          <a:bodyPr wrap="none" rtlCol="0">
            <a:spAutoFit/>
          </a:bodyPr>
          <a:lstStyle/>
          <a:p>
            <a:r>
              <a:rPr lang="en-IN" sz="5400" dirty="0">
                <a:latin typeface="Times New Roman" panose="02020603050405020304" pitchFamily="18" charset="0"/>
                <a:cs typeface="Times New Roman" panose="02020603050405020304" pitchFamily="18" charset="0"/>
              </a:rPr>
              <a:t>Internal Project Review </a:t>
            </a:r>
          </a:p>
        </p:txBody>
      </p:sp>
    </p:spTree>
    <p:extLst>
      <p:ext uri="{BB962C8B-B14F-4D97-AF65-F5344CB8AC3E}">
        <p14:creationId xmlns:p14="http://schemas.microsoft.com/office/powerpoint/2010/main" val="153980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95805C-E5D0-5D06-36E8-9B398F01A37C}"/>
              </a:ext>
            </a:extLst>
          </p:cNvPr>
          <p:cNvSpPr txBox="1"/>
          <p:nvPr/>
        </p:nvSpPr>
        <p:spPr>
          <a:xfrm>
            <a:off x="2654710" y="130180"/>
            <a:ext cx="5420074" cy="1015663"/>
          </a:xfrm>
          <a:prstGeom prst="rect">
            <a:avLst/>
          </a:prstGeom>
          <a:noFill/>
        </p:spPr>
        <p:txBody>
          <a:bodyPr wrap="none" rtlCol="0">
            <a:spAutoFit/>
          </a:bodyPr>
          <a:lstStyle/>
          <a:p>
            <a:r>
              <a:rPr lang="en-IN" sz="6000" b="1" dirty="0">
                <a:solidFill>
                  <a:srgbClr val="FF0000"/>
                </a:solidFill>
                <a:latin typeface="Times New Roman" panose="02020603050405020304" pitchFamily="18" charset="0"/>
                <a:cs typeface="Times New Roman" panose="02020603050405020304" pitchFamily="18" charset="0"/>
              </a:rPr>
              <a:t>Batch Members</a:t>
            </a:r>
          </a:p>
        </p:txBody>
      </p:sp>
      <p:sp>
        <p:nvSpPr>
          <p:cNvPr id="3" name="TextBox 2">
            <a:extLst>
              <a:ext uri="{FF2B5EF4-FFF2-40B4-BE49-F238E27FC236}">
                <a16:creationId xmlns:a16="http://schemas.microsoft.com/office/drawing/2014/main" id="{6EA6EB39-64AE-70C9-9DBF-5F19D0FDE12F}"/>
              </a:ext>
            </a:extLst>
          </p:cNvPr>
          <p:cNvSpPr txBox="1"/>
          <p:nvPr/>
        </p:nvSpPr>
        <p:spPr>
          <a:xfrm>
            <a:off x="2654710" y="2113148"/>
            <a:ext cx="5266643" cy="1815882"/>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M.SHANKAR-Y22AIT475</a:t>
            </a:r>
          </a:p>
          <a:p>
            <a:r>
              <a:rPr lang="en-GB" sz="2800" dirty="0">
                <a:latin typeface="Times New Roman" panose="02020603050405020304" pitchFamily="18" charset="0"/>
                <a:cs typeface="Times New Roman" panose="02020603050405020304" pitchFamily="18" charset="0"/>
              </a:rPr>
              <a:t>N.SIVA KUMARI-Y22AIT484</a:t>
            </a:r>
          </a:p>
          <a:p>
            <a:r>
              <a:rPr lang="en-GB" sz="2800" dirty="0">
                <a:latin typeface="Times New Roman" panose="02020603050405020304" pitchFamily="18" charset="0"/>
                <a:cs typeface="Times New Roman" panose="02020603050405020304" pitchFamily="18" charset="0"/>
              </a:rPr>
              <a:t>Y.JITENDRA-Y22AIT527</a:t>
            </a:r>
          </a:p>
          <a:p>
            <a:r>
              <a:rPr lang="en-GB" sz="2800" dirty="0">
                <a:latin typeface="Times New Roman" panose="02020603050405020304" pitchFamily="18" charset="0"/>
                <a:cs typeface="Times New Roman" panose="02020603050405020304" pitchFamily="18" charset="0"/>
              </a:rPr>
              <a:t>P.LALITHA-Y22AIT490</a:t>
            </a:r>
          </a:p>
        </p:txBody>
      </p:sp>
    </p:spTree>
    <p:extLst>
      <p:ext uri="{BB962C8B-B14F-4D97-AF65-F5344CB8AC3E}">
        <p14:creationId xmlns:p14="http://schemas.microsoft.com/office/powerpoint/2010/main" val="3360262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45976-017D-F00C-A98C-D00AA705BA96}"/>
              </a:ext>
            </a:extLst>
          </p:cNvPr>
          <p:cNvSpPr txBox="1"/>
          <p:nvPr/>
        </p:nvSpPr>
        <p:spPr>
          <a:xfrm>
            <a:off x="4369687" y="481782"/>
            <a:ext cx="1608325" cy="1015663"/>
          </a:xfrm>
          <a:prstGeom prst="rect">
            <a:avLst/>
          </a:prstGeom>
          <a:noFill/>
        </p:spPr>
        <p:txBody>
          <a:bodyPr wrap="none" rtlCol="0">
            <a:spAutoFit/>
          </a:bodyPr>
          <a:lstStyle/>
          <a:p>
            <a:r>
              <a:rPr lang="en-IN" sz="6000" dirty="0">
                <a:solidFill>
                  <a:srgbClr val="FF0000"/>
                </a:solidFill>
                <a:latin typeface="Times New Roman" panose="02020603050405020304" pitchFamily="18" charset="0"/>
                <a:cs typeface="Times New Roman" panose="02020603050405020304" pitchFamily="18" charset="0"/>
              </a:rPr>
              <a:t>Title</a:t>
            </a:r>
          </a:p>
        </p:txBody>
      </p:sp>
      <p:sp>
        <p:nvSpPr>
          <p:cNvPr id="3" name="TextBox 2">
            <a:extLst>
              <a:ext uri="{FF2B5EF4-FFF2-40B4-BE49-F238E27FC236}">
                <a16:creationId xmlns:a16="http://schemas.microsoft.com/office/drawing/2014/main" id="{72CB7FBF-8919-3ADE-0DDB-A0DAF454AA9C}"/>
              </a:ext>
            </a:extLst>
          </p:cNvPr>
          <p:cNvSpPr txBox="1"/>
          <p:nvPr/>
        </p:nvSpPr>
        <p:spPr>
          <a:xfrm>
            <a:off x="459282" y="2281084"/>
            <a:ext cx="9665110" cy="1938992"/>
          </a:xfrm>
          <a:prstGeom prst="rect">
            <a:avLst/>
          </a:prstGeom>
          <a:noFill/>
        </p:spPr>
        <p:txBody>
          <a:bodyPr wrap="square" rtlCol="0">
            <a:spAutoFit/>
          </a:bodyPr>
          <a:lstStyle/>
          <a:p>
            <a:r>
              <a:rPr lang="en-GB" sz="4000" dirty="0">
                <a:latin typeface="Times New Roman" panose="02020603050405020304" pitchFamily="18" charset="0"/>
                <a:cs typeface="Times New Roman" panose="02020603050405020304" pitchFamily="18" charset="0"/>
              </a:rPr>
              <a:t>AI BASED PRODUCT DEMAND AND SALES TREND ANALYSIS FOR SUPER MARKET</a:t>
            </a:r>
          </a:p>
        </p:txBody>
      </p:sp>
    </p:spTree>
    <p:extLst>
      <p:ext uri="{BB962C8B-B14F-4D97-AF65-F5344CB8AC3E}">
        <p14:creationId xmlns:p14="http://schemas.microsoft.com/office/powerpoint/2010/main" val="1218427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06375-21B7-CA06-53C9-4348C6CA7938}"/>
              </a:ext>
            </a:extLst>
          </p:cNvPr>
          <p:cNvSpPr txBox="1"/>
          <p:nvPr/>
        </p:nvSpPr>
        <p:spPr>
          <a:xfrm>
            <a:off x="-869427" y="0"/>
            <a:ext cx="11167672" cy="830997"/>
          </a:xfrm>
          <a:prstGeom prst="rect">
            <a:avLst/>
          </a:prstGeom>
          <a:noFill/>
        </p:spPr>
        <p:txBody>
          <a:bodyPr wrap="square" rtlCol="0">
            <a:sp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Table of Contents</a:t>
            </a:r>
          </a:p>
        </p:txBody>
      </p:sp>
      <p:sp>
        <p:nvSpPr>
          <p:cNvPr id="3" name="TextBox 2">
            <a:extLst>
              <a:ext uri="{FF2B5EF4-FFF2-40B4-BE49-F238E27FC236}">
                <a16:creationId xmlns:a16="http://schemas.microsoft.com/office/drawing/2014/main" id="{1AE27EB9-1F8F-A213-1DB5-A6A65AEFDB94}"/>
              </a:ext>
            </a:extLst>
          </p:cNvPr>
          <p:cNvSpPr txBox="1"/>
          <p:nvPr/>
        </p:nvSpPr>
        <p:spPr>
          <a:xfrm>
            <a:off x="626911" y="717755"/>
            <a:ext cx="5980366" cy="5909310"/>
          </a:xfrm>
          <a:prstGeom prst="rect">
            <a:avLst/>
          </a:prstGeom>
          <a:noFill/>
        </p:spPr>
        <p:txBody>
          <a:bodyPr wrap="square" rtlCol="0">
            <a:spAutoFit/>
          </a:bodyPr>
          <a:lstStyle/>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Abstract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Introduction</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Problem Statement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Literature Survey</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Existing System</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Proposed System</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System Architecture</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Flow Chart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Modules</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Methodology</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Algorithm Working</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Implementation or Snapshots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Requirements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Future Enhancements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Conclusion</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585596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C0D274-60BC-CD35-48BA-15C7727C4941}"/>
              </a:ext>
            </a:extLst>
          </p:cNvPr>
          <p:cNvSpPr txBox="1"/>
          <p:nvPr/>
        </p:nvSpPr>
        <p:spPr>
          <a:xfrm>
            <a:off x="3827430" y="282973"/>
            <a:ext cx="2268570"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Abstract</a:t>
            </a:r>
          </a:p>
        </p:txBody>
      </p:sp>
      <p:sp>
        <p:nvSpPr>
          <p:cNvPr id="9" name="Rectangle 5">
            <a:extLst>
              <a:ext uri="{FF2B5EF4-FFF2-40B4-BE49-F238E27FC236}">
                <a16:creationId xmlns:a16="http://schemas.microsoft.com/office/drawing/2014/main" id="{9308B30B-4F47-A4C2-FE7E-99E9D4A937C1}"/>
              </a:ext>
            </a:extLst>
          </p:cNvPr>
          <p:cNvSpPr>
            <a:spLocks noChangeArrowheads="1"/>
          </p:cNvSpPr>
          <p:nvPr/>
        </p:nvSpPr>
        <p:spPr bwMode="auto">
          <a:xfrm>
            <a:off x="344129" y="1113970"/>
            <a:ext cx="924232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2400" dirty="0">
                <a:solidFill>
                  <a:srgbClr val="002060"/>
                </a:solidFill>
                <a:latin typeface="Times New Roman" panose="02020603050405020304" pitchFamily="18" charset="0"/>
                <a:cs typeface="Times New Roman" panose="02020603050405020304" pitchFamily="18" charset="0"/>
              </a:rPr>
              <a:t>The rapid growth of the retail industry has led to the generation of a large amount of sales data through daily supermarket transactions, making it difficult to manually analyze sales patterns and predict future product demand. The main objective of this project is to develop a Supermarket Sales Prediction System that can analyze historical sales data and fore cast the demand for different products in the coming months. By understanding past sales patterns, supermarkets can make better decisions related to product stocking, inventory management, and sales planning. In this project, a web-based application is developed using the Flask Web Framework, which provides an interactive interface for managing sales, products, categories, and reports efficiently. The system allows users to record daily sales transactions and maintain product information in an organized manner.</a:t>
            </a:r>
            <a:endParaRPr kumimoji="0" lang="en-US" altLang="en-US" sz="24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92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F15EA-F334-D2B3-969E-E22ED86319FA}"/>
              </a:ext>
            </a:extLst>
          </p:cNvPr>
          <p:cNvSpPr txBox="1"/>
          <p:nvPr/>
        </p:nvSpPr>
        <p:spPr>
          <a:xfrm>
            <a:off x="3635746" y="293677"/>
            <a:ext cx="322876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Introduction</a:t>
            </a:r>
          </a:p>
        </p:txBody>
      </p:sp>
      <p:sp>
        <p:nvSpPr>
          <p:cNvPr id="5" name="Rectangle 1">
            <a:extLst>
              <a:ext uri="{FF2B5EF4-FFF2-40B4-BE49-F238E27FC236}">
                <a16:creationId xmlns:a16="http://schemas.microsoft.com/office/drawing/2014/main" id="{49FB7A74-D0D3-4346-AEE4-5BC0756D9691}"/>
              </a:ext>
            </a:extLst>
          </p:cNvPr>
          <p:cNvSpPr>
            <a:spLocks noChangeArrowheads="1"/>
          </p:cNvSpPr>
          <p:nvPr/>
        </p:nvSpPr>
        <p:spPr bwMode="auto">
          <a:xfrm>
            <a:off x="308831" y="1166843"/>
            <a:ext cx="95234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t>The retail industry is rapidly growing, and supermarkets generate a large amount of sales data through daily transactions. Analyzing this data manually is difficult and time-consuming. To overcome this problem, modern technologies such as Artificial Intelligence (AI) and Machine Learning (ML) are used to analyze sales patterns and predict future product </a:t>
            </a:r>
            <a:r>
              <a:rPr lang="en-US" sz="2400" dirty="0" err="1"/>
              <a:t>demand.Supermarkets</a:t>
            </a:r>
            <a:r>
              <a:rPr lang="en-US" sz="2400" dirty="0"/>
              <a:t> often face challenges such as overstocking or stock shortages due to inaccurate demand forecasting. Predicting product demand in advance helps store managers maintain proper inventory levels, reduce waste, and improve customer satisfaction. AI-based systems can analyze historical sales data, identify trends, and provide accurate predictions about future sales.</a:t>
            </a:r>
          </a:p>
        </p:txBody>
      </p:sp>
    </p:spTree>
    <p:extLst>
      <p:ext uri="{BB962C8B-B14F-4D97-AF65-F5344CB8AC3E}">
        <p14:creationId xmlns:p14="http://schemas.microsoft.com/office/powerpoint/2010/main" val="3838805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2C06F9-52F5-C690-0222-DC042585DE80}"/>
              </a:ext>
            </a:extLst>
          </p:cNvPr>
          <p:cNvSpPr txBox="1"/>
          <p:nvPr/>
        </p:nvSpPr>
        <p:spPr>
          <a:xfrm>
            <a:off x="2477729" y="353961"/>
            <a:ext cx="4887877"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Rectangle 1">
            <a:extLst>
              <a:ext uri="{FF2B5EF4-FFF2-40B4-BE49-F238E27FC236}">
                <a16:creationId xmlns:a16="http://schemas.microsoft.com/office/drawing/2014/main" id="{2912720C-4F43-4DC7-33FE-C9ADFE7A41E2}"/>
              </a:ext>
            </a:extLst>
          </p:cNvPr>
          <p:cNvSpPr>
            <a:spLocks noChangeArrowheads="1"/>
          </p:cNvSpPr>
          <p:nvPr/>
        </p:nvSpPr>
        <p:spPr bwMode="auto">
          <a:xfrm>
            <a:off x="696097" y="1649243"/>
            <a:ext cx="88313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2400" dirty="0">
                <a:solidFill>
                  <a:srgbClr val="002060"/>
                </a:solidFill>
                <a:latin typeface="Times New Roman" panose="02020603050405020304" pitchFamily="18" charset="0"/>
                <a:cs typeface="Times New Roman" panose="02020603050405020304" pitchFamily="18" charset="0"/>
              </a:rPr>
              <a:t>Supermarkets generate a large volume of sales data every day due to numerous customer transactions and a wide variety of products. However, analyzing this data manually to understand sales trends and predict future demand is a challenging and time-consuming task. Without proper analysis, supermarkets often face problems such as overstocking of products, shortage of essential items, poor inventory management, and financial losses. Traditional methods of estimating future sales are usually based on assumptions or past experience rather than systematic data analysis, which may lead to inaccurate predictions. </a:t>
            </a:r>
            <a:endParaRPr kumimoji="0" lang="en-US" altLang="en-US" sz="24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961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C07009-B851-F710-F760-427F0151E26A}"/>
              </a:ext>
            </a:extLst>
          </p:cNvPr>
          <p:cNvSpPr txBox="1"/>
          <p:nvPr/>
        </p:nvSpPr>
        <p:spPr>
          <a:xfrm>
            <a:off x="2467897" y="196646"/>
            <a:ext cx="4509568"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Literature Survey</a:t>
            </a:r>
          </a:p>
        </p:txBody>
      </p:sp>
      <p:sp>
        <p:nvSpPr>
          <p:cNvPr id="4" name="Rectangle 1">
            <a:extLst>
              <a:ext uri="{FF2B5EF4-FFF2-40B4-BE49-F238E27FC236}">
                <a16:creationId xmlns:a16="http://schemas.microsoft.com/office/drawing/2014/main" id="{7A38167D-6C90-0FA9-542B-0960C67E3952}"/>
              </a:ext>
            </a:extLst>
          </p:cNvPr>
          <p:cNvSpPr>
            <a:spLocks noChangeArrowheads="1"/>
          </p:cNvSpPr>
          <p:nvPr/>
        </p:nvSpPr>
        <p:spPr bwMode="auto">
          <a:xfrm>
            <a:off x="521111" y="2351082"/>
            <a:ext cx="904567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2000" dirty="0">
                <a:solidFill>
                  <a:srgbClr val="002060"/>
                </a:solidFill>
                <a:latin typeface="Times New Roman" panose="02020603050405020304" pitchFamily="18" charset="0"/>
                <a:cs typeface="Times New Roman" panose="02020603050405020304" pitchFamily="18" charset="0"/>
              </a:rPr>
              <a:t>The retail industry generates a large amount of sales data through daily transactions. Analyzing this data helps businesses understand customer purchasing behavior and improve decision-making. Researchers have applied various data mining, machine learning, and statistical techniques to predict future sales and demand. Sales prediction systems help supermarkets manage inventory, reduce product wastage, and improve operational efficiency. This chapter reviews previous studies and techniques used in sales forecasting and retail data analysis.</a:t>
            </a:r>
            <a:endParaRPr kumimoji="0" lang="en-US" altLang="en-US" sz="2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99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95EF18-F6EC-C888-8D77-8D2A8331A478}"/>
              </a:ext>
            </a:extLst>
          </p:cNvPr>
          <p:cNvSpPr txBox="1"/>
          <p:nvPr/>
        </p:nvSpPr>
        <p:spPr>
          <a:xfrm>
            <a:off x="2861122" y="1048311"/>
            <a:ext cx="4442242"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Proposed System</a:t>
            </a:r>
          </a:p>
        </p:txBody>
      </p:sp>
      <p:sp>
        <p:nvSpPr>
          <p:cNvPr id="3" name="TextBox 2">
            <a:extLst>
              <a:ext uri="{FF2B5EF4-FFF2-40B4-BE49-F238E27FC236}">
                <a16:creationId xmlns:a16="http://schemas.microsoft.com/office/drawing/2014/main" id="{CBF7BF93-D7FA-933C-966B-521639E01449}"/>
              </a:ext>
            </a:extLst>
          </p:cNvPr>
          <p:cNvSpPr txBox="1"/>
          <p:nvPr/>
        </p:nvSpPr>
        <p:spPr>
          <a:xfrm>
            <a:off x="249759" y="808786"/>
            <a:ext cx="9286312" cy="4278094"/>
          </a:xfrm>
          <a:prstGeom prst="rect">
            <a:avLst/>
          </a:prstGeom>
          <a:noFill/>
        </p:spPr>
        <p:txBody>
          <a:bodyPr wrap="square" rtlCol="0">
            <a:spAutoFit/>
          </a:bodyPr>
          <a:lstStyle/>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r>
              <a:rPr lang="en-US" dirty="0">
                <a:solidFill>
                  <a:srgbClr val="002060"/>
                </a:solidFill>
                <a:latin typeface="Times New Roman" panose="02020603050405020304" pitchFamily="18" charset="0"/>
                <a:cs typeface="Times New Roman" panose="02020603050405020304" pitchFamily="18" charset="0"/>
              </a:rPr>
              <a:t> </a:t>
            </a: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r>
              <a:rPr lang="en-US" dirty="0">
                <a:solidFill>
                  <a:srgbClr val="002060"/>
                </a:solidFill>
                <a:latin typeface="Times New Roman" panose="02020603050405020304" pitchFamily="18" charset="0"/>
                <a:cs typeface="Times New Roman" panose="02020603050405020304" pitchFamily="18" charset="0"/>
              </a:rPr>
              <a:t>The proposed system is a Sales Management and Supermarket Sales Prediction System developed using a web-based architecture. The system is designed to manage supermarket sales data and analyze it to predict future product demand. It integrates web technologies, database management, and machine learning techniques to provide an intelligent platform for sales monitoring and forecasting. The system allows administrators to manage products, categories, and sales transactions93.2 System Architecture 10through an interactive dashboard. In addition, the system includes an AI prediction module that analyzes historical sales data and generates predictions for future sales trends. This helps supermarket managers improve inventory planning and make better business decisions.</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03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0A720C-5803-385D-BD67-7F5B9BCCDAE7}"/>
              </a:ext>
            </a:extLst>
          </p:cNvPr>
          <p:cNvSpPr txBox="1"/>
          <p:nvPr/>
        </p:nvSpPr>
        <p:spPr>
          <a:xfrm>
            <a:off x="2478946" y="176060"/>
            <a:ext cx="6098796" cy="830997"/>
          </a:xfrm>
          <a:prstGeom prst="rect">
            <a:avLst/>
          </a:prstGeom>
          <a:noFill/>
        </p:spPr>
        <p:txBody>
          <a:bodyPr wrap="square">
            <a:spAutoFit/>
          </a:bodyPr>
          <a:lstStyle/>
          <a:p>
            <a:r>
              <a:rPr lang="en-IN" sz="4800" dirty="0">
                <a:solidFill>
                  <a:srgbClr val="FF0000"/>
                </a:solidFill>
                <a:latin typeface="Times New Roman" panose="02020603050405020304" pitchFamily="18" charset="0"/>
                <a:cs typeface="Times New Roman" panose="02020603050405020304" pitchFamily="18" charset="0"/>
              </a:rPr>
              <a:t>System</a:t>
            </a:r>
            <a:r>
              <a:rPr lang="en-IN" sz="4000" dirty="0">
                <a:solidFill>
                  <a:srgbClr val="FF0000"/>
                </a:solidFill>
                <a:latin typeface="Times New Roman" panose="02020603050405020304" pitchFamily="18" charset="0"/>
                <a:cs typeface="Times New Roman" panose="02020603050405020304" pitchFamily="18" charset="0"/>
              </a:rPr>
              <a:t> </a:t>
            </a:r>
            <a:r>
              <a:rPr lang="en-IN" sz="4800" dirty="0">
                <a:solidFill>
                  <a:srgbClr val="FF0000"/>
                </a:solidFill>
                <a:latin typeface="Times New Roman" panose="02020603050405020304" pitchFamily="18" charset="0"/>
                <a:cs typeface="Times New Roman" panose="02020603050405020304" pitchFamily="18" charset="0"/>
              </a:rPr>
              <a:t>Architecture</a:t>
            </a:r>
          </a:p>
        </p:txBody>
      </p:sp>
      <p:sp>
        <p:nvSpPr>
          <p:cNvPr id="7" name="AutoShape 8" descr="Machine learning workflow for Big Mart analysis">
            <a:extLst>
              <a:ext uri="{FF2B5EF4-FFF2-40B4-BE49-F238E27FC236}">
                <a16:creationId xmlns:a16="http://schemas.microsoft.com/office/drawing/2014/main" id="{64210DF9-B23E-C028-0552-CCBC516EE40A}"/>
              </a:ext>
            </a:extLst>
          </p:cNvPr>
          <p:cNvSpPr>
            <a:spLocks noChangeAspect="1" noChangeArrowheads="1"/>
          </p:cNvSpPr>
          <p:nvPr/>
        </p:nvSpPr>
        <p:spPr bwMode="auto">
          <a:xfrm>
            <a:off x="5943600" y="327660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6E7DA84F-842D-5B90-6555-DA460823D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7792" y="1292352"/>
            <a:ext cx="4572000" cy="5577840"/>
          </a:xfrm>
          <a:prstGeom prst="rect">
            <a:avLst/>
          </a:prstGeom>
        </p:spPr>
      </p:pic>
    </p:spTree>
    <p:extLst>
      <p:ext uri="{BB962C8B-B14F-4D97-AF65-F5344CB8AC3E}">
        <p14:creationId xmlns:p14="http://schemas.microsoft.com/office/powerpoint/2010/main" val="3974798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5C1D20-7ACC-46B4-62A1-12B27874C1C9}"/>
              </a:ext>
            </a:extLst>
          </p:cNvPr>
          <p:cNvSpPr txBox="1"/>
          <p:nvPr/>
        </p:nvSpPr>
        <p:spPr>
          <a:xfrm>
            <a:off x="3883742" y="16237"/>
            <a:ext cx="297228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Flow Chart</a:t>
            </a:r>
          </a:p>
        </p:txBody>
      </p:sp>
      <p:pic>
        <p:nvPicPr>
          <p:cNvPr id="5" name="Picture 4">
            <a:extLst>
              <a:ext uri="{FF2B5EF4-FFF2-40B4-BE49-F238E27FC236}">
                <a16:creationId xmlns:a16="http://schemas.microsoft.com/office/drawing/2014/main" id="{0A12126A-C090-24BB-ADF2-050281FBD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9760" y="847234"/>
            <a:ext cx="6762302" cy="5797296"/>
          </a:xfrm>
          <a:prstGeom prst="rect">
            <a:avLst/>
          </a:prstGeom>
        </p:spPr>
      </p:pic>
    </p:spTree>
    <p:extLst>
      <p:ext uri="{BB962C8B-B14F-4D97-AF65-F5344CB8AC3E}">
        <p14:creationId xmlns:p14="http://schemas.microsoft.com/office/powerpoint/2010/main" val="4137160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1D0683-42BE-4239-2437-5DC1929EF591}"/>
              </a:ext>
            </a:extLst>
          </p:cNvPr>
          <p:cNvSpPr txBox="1"/>
          <p:nvPr/>
        </p:nvSpPr>
        <p:spPr>
          <a:xfrm>
            <a:off x="3028335" y="137652"/>
            <a:ext cx="4204997"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Modules Used</a:t>
            </a:r>
          </a:p>
        </p:txBody>
      </p:sp>
      <p:sp>
        <p:nvSpPr>
          <p:cNvPr id="4" name="Rectangle 1">
            <a:extLst>
              <a:ext uri="{FF2B5EF4-FFF2-40B4-BE49-F238E27FC236}">
                <a16:creationId xmlns:a16="http://schemas.microsoft.com/office/drawing/2014/main" id="{737BB053-8390-E2A7-31CE-D5E2141CDE77}"/>
              </a:ext>
            </a:extLst>
          </p:cNvPr>
          <p:cNvSpPr>
            <a:spLocks noChangeArrowheads="1"/>
          </p:cNvSpPr>
          <p:nvPr/>
        </p:nvSpPr>
        <p:spPr bwMode="auto">
          <a:xfrm>
            <a:off x="163902" y="1241925"/>
            <a:ext cx="9311147"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defTabSz="914400" eaLnBrk="0" fontAlgn="base" hangingPunct="0">
              <a:spcBef>
                <a:spcPct val="0"/>
              </a:spcBef>
              <a:spcAft>
                <a:spcPct val="0"/>
              </a:spcAft>
            </a:pPr>
            <a:endParaRPr lang="en-US" altLang="en-US" sz="1400" dirty="0">
              <a:solidFill>
                <a:srgbClr val="002060"/>
              </a:solidFill>
              <a:latin typeface="Times New Roman" panose="02020603050405020304" pitchFamily="18" charset="0"/>
              <a:cs typeface="Times New Roman" panose="02020603050405020304" pitchFamily="18" charset="0"/>
            </a:endParaRPr>
          </a:p>
          <a:p>
            <a:r>
              <a:rPr lang="en-US" sz="1600" b="1" dirty="0"/>
              <a:t>1. Admin Login Module</a:t>
            </a:r>
          </a:p>
          <a:p>
            <a:r>
              <a:rPr lang="en-US" sz="1600" dirty="0"/>
              <a:t>This module allows the administrator to securely log into the system using a username and password. After successful authentication, the admin can access all system functionalities such as product management, sales data entry, and report generation.</a:t>
            </a:r>
          </a:p>
          <a:p>
            <a:r>
              <a:rPr lang="en-US" sz="1600" b="1" dirty="0"/>
              <a:t>2. Product Management Module</a:t>
            </a:r>
          </a:p>
          <a:p>
            <a:r>
              <a:rPr lang="en-US" sz="1600" dirty="0"/>
              <a:t>In this module, the admin can add, update, delete, and view product details. It helps maintain accurate product information such as product name, category, price, and stock availability.</a:t>
            </a:r>
          </a:p>
          <a:p>
            <a:r>
              <a:rPr lang="en-US" sz="1600" b="1" dirty="0"/>
              <a:t>3. Category Management Module</a:t>
            </a:r>
          </a:p>
          <a:p>
            <a:r>
              <a:rPr lang="en-US" sz="1600" dirty="0"/>
              <a:t>This module allows the admin to create and manage different product categories. Organizing products into categories helps in better management and analysis of sales data.</a:t>
            </a:r>
          </a:p>
          <a:p>
            <a:r>
              <a:rPr lang="en-US" sz="1600" b="1" dirty="0"/>
              <a:t>4. Sales Data Management Module</a:t>
            </a:r>
          </a:p>
          <a:p>
            <a:r>
              <a:rPr lang="en-US" sz="1600" dirty="0"/>
              <a:t>This module is responsible for storing and managing daily sales transactions. The system records product sales information which is later used for analysis and prediction.</a:t>
            </a:r>
          </a:p>
          <a:p>
            <a:r>
              <a:rPr lang="en-US" sz="1600" b="1" dirty="0"/>
              <a:t>5. Reports and Dashboard Module</a:t>
            </a:r>
          </a:p>
          <a:p>
            <a:r>
              <a:rPr lang="en-US" sz="1600" dirty="0"/>
              <a:t>The system generates sales reports and displays them through dashboards. These reports help the admin understand sales performance, product demand, and sales trends.</a:t>
            </a:r>
          </a:p>
          <a:p>
            <a:r>
              <a:rPr lang="en-US" sz="1600" b="1" dirty="0"/>
              <a:t>6. AI Prediction Module</a:t>
            </a:r>
          </a:p>
          <a:p>
            <a:r>
              <a:rPr lang="en-US" sz="1600" dirty="0"/>
              <a:t>This is the core module of the system. It analyzes historical sales data using Artificial Intelligence or Machine Learning algorithms to predict future product demand and sales trends.</a:t>
            </a:r>
          </a:p>
        </p:txBody>
      </p:sp>
    </p:spTree>
    <p:extLst>
      <p:ext uri="{BB962C8B-B14F-4D97-AF65-F5344CB8AC3E}">
        <p14:creationId xmlns:p14="http://schemas.microsoft.com/office/powerpoint/2010/main" val="1461337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17ABEF-F211-6DB1-E761-A8513580B191}"/>
              </a:ext>
            </a:extLst>
          </p:cNvPr>
          <p:cNvSpPr txBox="1"/>
          <p:nvPr/>
        </p:nvSpPr>
        <p:spPr>
          <a:xfrm>
            <a:off x="3140734" y="151001"/>
            <a:ext cx="3645960" cy="830997"/>
          </a:xfrm>
          <a:prstGeom prst="rect">
            <a:avLst/>
          </a:prstGeom>
          <a:noFill/>
        </p:spPr>
        <p:txBody>
          <a:bodyPr wrap="squar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Methodology</a:t>
            </a:r>
          </a:p>
        </p:txBody>
      </p:sp>
      <p:sp>
        <p:nvSpPr>
          <p:cNvPr id="3" name="TextBox 2">
            <a:extLst>
              <a:ext uri="{FF2B5EF4-FFF2-40B4-BE49-F238E27FC236}">
                <a16:creationId xmlns:a16="http://schemas.microsoft.com/office/drawing/2014/main" id="{AC1CC944-2C5E-F696-052D-8429224D6953}"/>
              </a:ext>
            </a:extLst>
          </p:cNvPr>
          <p:cNvSpPr txBox="1"/>
          <p:nvPr/>
        </p:nvSpPr>
        <p:spPr>
          <a:xfrm>
            <a:off x="593275" y="730675"/>
            <a:ext cx="8740877" cy="4708981"/>
          </a:xfrm>
          <a:prstGeom prst="rect">
            <a:avLst/>
          </a:prstGeom>
          <a:noFill/>
        </p:spPr>
        <p:txBody>
          <a:bodyPr wrap="square" rtlCol="0">
            <a:spAutoFit/>
          </a:bodyPr>
          <a:lstStyle/>
          <a:p>
            <a:endParaRPr lang="en-US" sz="2000" dirty="0">
              <a:solidFill>
                <a:srgbClr val="002060"/>
              </a:solidFill>
              <a:latin typeface="Times New Roman" panose="02020603050405020304" pitchFamily="18" charset="0"/>
              <a:cs typeface="Times New Roman" panose="02020603050405020304" pitchFamily="18" charset="0"/>
            </a:endParaRPr>
          </a:p>
          <a:p>
            <a:pPr algn="just"/>
            <a:r>
              <a:rPr lang="en-US" sz="2000" dirty="0"/>
              <a:t>The methodology of the </a:t>
            </a:r>
            <a:r>
              <a:rPr lang="en-US" sz="2000" b="1" dirty="0"/>
              <a:t>AI Based Product Demand and Sales Trend Analysis for Super Market</a:t>
            </a:r>
            <a:r>
              <a:rPr lang="en-US" sz="2000" dirty="0"/>
              <a:t> project involves several steps to analyze sales data and predict future product demand. First, historical supermarket sales data is collected from the database. The collected data is then preprocessed by removing missing values, duplicates, and formatting the data properly. Important features such as product category, sales quantity, price, and transaction date are selected for analysis. The dataset is divided into training and testing data to build and evaluate the machine learning model. The training data is used to train the AI model to identify patterns and trends in sales data. After training, the model predicts future product demand based on historical sales patterns. Finally, the predicted results are displayed through reports or dashboards, helping supermarket managers make better decisions for inventory management and sales planning.</a:t>
            </a:r>
            <a:endParaRPr 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964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97F90F-83A5-9F39-2D79-3C4FF448A143}"/>
              </a:ext>
            </a:extLst>
          </p:cNvPr>
          <p:cNvSpPr txBox="1"/>
          <p:nvPr/>
        </p:nvSpPr>
        <p:spPr>
          <a:xfrm>
            <a:off x="822792" y="1839500"/>
            <a:ext cx="8435130" cy="3693319"/>
          </a:xfrm>
          <a:prstGeom prst="rect">
            <a:avLst/>
          </a:prstGeom>
          <a:noFill/>
        </p:spPr>
        <p:txBody>
          <a:bodyPr wrap="square">
            <a:spAutoFit/>
          </a:bodyPr>
          <a:lstStyle/>
          <a:p>
            <a:pPr lvl="0" algn="just" defTabSz="914400" eaLnBrk="0" fontAlgn="base" hangingPunct="0">
              <a:spcBef>
                <a:spcPct val="0"/>
              </a:spcBef>
              <a:spcAft>
                <a:spcPct val="0"/>
              </a:spcAft>
            </a:pPr>
            <a:r>
              <a:rPr lang="en-US" dirty="0"/>
              <a:t>The </a:t>
            </a:r>
            <a:r>
              <a:rPr lang="en-US" b="1" dirty="0"/>
              <a:t>AI Based Product Demand and Sales Trend Analysis for Super Market</a:t>
            </a:r>
            <a:r>
              <a:rPr lang="en-US" dirty="0"/>
              <a:t> system uses machine learning algorithms to analyze historical sales data and predict future product demand. The main algorithm used in this project is </a:t>
            </a:r>
            <a:r>
              <a:rPr lang="en-US" b="1" dirty="0" err="1"/>
              <a:t>XGBoost</a:t>
            </a:r>
            <a:r>
              <a:rPr lang="en-US" b="1" dirty="0"/>
              <a:t> (Extreme Gradient Boosting)</a:t>
            </a:r>
            <a:r>
              <a:rPr lang="en-US" dirty="0"/>
              <a:t>, which is a powerful machine learning technique for prediction and regression problems. </a:t>
            </a:r>
            <a:r>
              <a:rPr lang="en-US" dirty="0" err="1"/>
              <a:t>XGBoost</a:t>
            </a:r>
            <a:r>
              <a:rPr lang="en-US" dirty="0"/>
              <a:t> works by combining multiple decision trees to improve prediction accuracy and reduce errors. It analyzes patterns in past sales data such as product demand, seasonal trends, and customer purchasing behavior to generate accurate sales forecasts. In addition to </a:t>
            </a:r>
            <a:r>
              <a:rPr lang="en-US" dirty="0" err="1"/>
              <a:t>XGBoost</a:t>
            </a:r>
            <a:r>
              <a:rPr lang="en-US" dirty="0"/>
              <a:t>, algorithms like </a:t>
            </a:r>
            <a:r>
              <a:rPr lang="en-US" b="1" dirty="0"/>
              <a:t>Decision Tree, K-Nearest Neighbors (KNN), and Generalized Linear Model (GLM)</a:t>
            </a:r>
            <a:r>
              <a:rPr lang="en-US" dirty="0"/>
              <a:t> can also be used to compare performance and improve prediction results. These algorithms help the system learn from historical data and provide reliable predictions for future sales trends.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0CE7EF-91E9-F193-4D46-9AA009DEC1B2}"/>
              </a:ext>
            </a:extLst>
          </p:cNvPr>
          <p:cNvSpPr txBox="1"/>
          <p:nvPr/>
        </p:nvSpPr>
        <p:spPr>
          <a:xfrm>
            <a:off x="3401735" y="399499"/>
            <a:ext cx="6098796" cy="769441"/>
          </a:xfrm>
          <a:prstGeom prst="rect">
            <a:avLst/>
          </a:prstGeom>
          <a:noFill/>
        </p:spPr>
        <p:txBody>
          <a:bodyPr wrap="square">
            <a:spAutoFit/>
          </a:bodyPr>
          <a:lstStyle/>
          <a:p>
            <a:r>
              <a:rPr lang="en-IN" sz="4400" dirty="0">
                <a:solidFill>
                  <a:srgbClr val="FF0000"/>
                </a:solidFill>
                <a:latin typeface="Times New Roman" panose="02020603050405020304" pitchFamily="18" charset="0"/>
                <a:cs typeface="Times New Roman" panose="02020603050405020304" pitchFamily="18" charset="0"/>
              </a:rPr>
              <a:t>Algorithm</a:t>
            </a:r>
          </a:p>
        </p:txBody>
      </p:sp>
    </p:spTree>
    <p:extLst>
      <p:ext uri="{BB962C8B-B14F-4D97-AF65-F5344CB8AC3E}">
        <p14:creationId xmlns:p14="http://schemas.microsoft.com/office/powerpoint/2010/main" val="2561567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C012EA-902F-0B78-9863-BA0793B17CA2}"/>
              </a:ext>
            </a:extLst>
          </p:cNvPr>
          <p:cNvSpPr txBox="1"/>
          <p:nvPr/>
        </p:nvSpPr>
        <p:spPr>
          <a:xfrm>
            <a:off x="4060272" y="-218114"/>
            <a:ext cx="3154260" cy="830997"/>
          </a:xfrm>
          <a:prstGeom prst="rect">
            <a:avLst/>
          </a:prstGeom>
          <a:noFill/>
        </p:spPr>
        <p:txBody>
          <a:bodyPr wrap="square" rtlCol="0">
            <a:spAutoFit/>
          </a:bodyPr>
          <a:lstStyle/>
          <a:p>
            <a:r>
              <a:rPr lang="en-US" sz="4800" b="1" dirty="0">
                <a:solidFill>
                  <a:srgbClr val="FF0000"/>
                </a:solidFill>
                <a:latin typeface="Times New Roman" panose="02020603050405020304" pitchFamily="18" charset="0"/>
                <a:cs typeface="Times New Roman" panose="02020603050405020304" pitchFamily="18" charset="0"/>
              </a:rPr>
              <a:t>Snapshots</a:t>
            </a:r>
            <a:endParaRPr lang="en-IN" sz="4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BD44B5-FB3B-D299-4A07-CC62E000E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92" y="1208960"/>
            <a:ext cx="9314688" cy="4740736"/>
          </a:xfrm>
          <a:prstGeom prst="rect">
            <a:avLst/>
          </a:prstGeom>
        </p:spPr>
      </p:pic>
    </p:spTree>
    <p:extLst>
      <p:ext uri="{BB962C8B-B14F-4D97-AF65-F5344CB8AC3E}">
        <p14:creationId xmlns:p14="http://schemas.microsoft.com/office/powerpoint/2010/main" val="1636613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A047A3-9333-E4D5-61E2-EE7B1668C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144" y="1526744"/>
            <a:ext cx="9326880" cy="4447336"/>
          </a:xfrm>
          <a:prstGeom prst="rect">
            <a:avLst/>
          </a:prstGeom>
        </p:spPr>
      </p:pic>
    </p:spTree>
    <p:extLst>
      <p:ext uri="{BB962C8B-B14F-4D97-AF65-F5344CB8AC3E}">
        <p14:creationId xmlns:p14="http://schemas.microsoft.com/office/powerpoint/2010/main" val="1132894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DD760A-0B9C-BC89-A3BD-84E5EB2A7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61" y="1238603"/>
            <a:ext cx="8992955" cy="4576982"/>
          </a:xfrm>
          <a:prstGeom prst="rect">
            <a:avLst/>
          </a:prstGeom>
        </p:spPr>
      </p:pic>
    </p:spTree>
    <p:extLst>
      <p:ext uri="{BB962C8B-B14F-4D97-AF65-F5344CB8AC3E}">
        <p14:creationId xmlns:p14="http://schemas.microsoft.com/office/powerpoint/2010/main" val="256857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AF5D8C-000E-DFE9-400D-AC2491013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83" y="1024128"/>
            <a:ext cx="9691394" cy="5050568"/>
          </a:xfrm>
          <a:prstGeom prst="rect">
            <a:avLst/>
          </a:prstGeom>
        </p:spPr>
      </p:pic>
    </p:spTree>
    <p:extLst>
      <p:ext uri="{BB962C8B-B14F-4D97-AF65-F5344CB8AC3E}">
        <p14:creationId xmlns:p14="http://schemas.microsoft.com/office/powerpoint/2010/main" val="247771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CB23E9-0E8C-C38A-5BBA-58F88FF578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296" y="1158240"/>
            <a:ext cx="9351264" cy="4883240"/>
          </a:xfrm>
          <a:prstGeom prst="rect">
            <a:avLst/>
          </a:prstGeom>
        </p:spPr>
      </p:pic>
    </p:spTree>
    <p:extLst>
      <p:ext uri="{BB962C8B-B14F-4D97-AF65-F5344CB8AC3E}">
        <p14:creationId xmlns:p14="http://schemas.microsoft.com/office/powerpoint/2010/main" val="1153972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872DE9-F75F-8A9F-3D26-AA8D09FB2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6960" y="678556"/>
            <a:ext cx="6620799" cy="5525271"/>
          </a:xfrm>
          <a:prstGeom prst="rect">
            <a:avLst/>
          </a:prstGeom>
        </p:spPr>
      </p:pic>
    </p:spTree>
    <p:extLst>
      <p:ext uri="{BB962C8B-B14F-4D97-AF65-F5344CB8AC3E}">
        <p14:creationId xmlns:p14="http://schemas.microsoft.com/office/powerpoint/2010/main" val="2248476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EB7A3C-0B84-0244-7CD7-BA038D668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88" y="695036"/>
            <a:ext cx="9290304" cy="5467927"/>
          </a:xfrm>
          <a:prstGeom prst="rect">
            <a:avLst/>
          </a:prstGeom>
        </p:spPr>
      </p:pic>
    </p:spTree>
    <p:extLst>
      <p:ext uri="{BB962C8B-B14F-4D97-AF65-F5344CB8AC3E}">
        <p14:creationId xmlns:p14="http://schemas.microsoft.com/office/powerpoint/2010/main" val="1692395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546FC1-6CA2-90F4-A555-103D0D445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769" y="537759"/>
            <a:ext cx="9316750" cy="5782482"/>
          </a:xfrm>
          <a:prstGeom prst="rect">
            <a:avLst/>
          </a:prstGeom>
        </p:spPr>
      </p:pic>
    </p:spTree>
    <p:extLst>
      <p:ext uri="{BB962C8B-B14F-4D97-AF65-F5344CB8AC3E}">
        <p14:creationId xmlns:p14="http://schemas.microsoft.com/office/powerpoint/2010/main" val="4004228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A60C5-E97A-55B3-0C25-EC3C4764B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055" y="799733"/>
            <a:ext cx="10212225" cy="5258534"/>
          </a:xfrm>
          <a:prstGeom prst="rect">
            <a:avLst/>
          </a:prstGeom>
        </p:spPr>
      </p:pic>
    </p:spTree>
    <p:extLst>
      <p:ext uri="{BB962C8B-B14F-4D97-AF65-F5344CB8AC3E}">
        <p14:creationId xmlns:p14="http://schemas.microsoft.com/office/powerpoint/2010/main" val="444232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B1CB-5FEB-DF83-EABB-2A216DCEB8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3558B5-1516-8D78-CBE6-2B7C9000861C}"/>
              </a:ext>
            </a:extLst>
          </p:cNvPr>
          <p:cNvSpPr txBox="1"/>
          <p:nvPr/>
        </p:nvSpPr>
        <p:spPr>
          <a:xfrm>
            <a:off x="3803472" y="149901"/>
            <a:ext cx="3034805" cy="707886"/>
          </a:xfrm>
          <a:prstGeom prst="rect">
            <a:avLst/>
          </a:prstGeom>
          <a:noFill/>
        </p:spPr>
        <p:txBody>
          <a:bodyPr wrap="non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Requirements</a:t>
            </a:r>
          </a:p>
        </p:txBody>
      </p:sp>
      <p:sp>
        <p:nvSpPr>
          <p:cNvPr id="4" name="TextBox 3">
            <a:extLst>
              <a:ext uri="{FF2B5EF4-FFF2-40B4-BE49-F238E27FC236}">
                <a16:creationId xmlns:a16="http://schemas.microsoft.com/office/drawing/2014/main" id="{ABA92BE4-D7B2-D7AB-7D1A-0671A6A17DB4}"/>
              </a:ext>
            </a:extLst>
          </p:cNvPr>
          <p:cNvSpPr txBox="1"/>
          <p:nvPr/>
        </p:nvSpPr>
        <p:spPr>
          <a:xfrm>
            <a:off x="374028" y="1113389"/>
            <a:ext cx="9615546" cy="5539978"/>
          </a:xfrm>
          <a:prstGeom prst="rect">
            <a:avLst/>
          </a:prstGeom>
          <a:noFill/>
        </p:spPr>
        <p:txBody>
          <a:bodyPr wrap="square" rtlCol="0">
            <a:spAutoFit/>
          </a:bodyPr>
          <a:lstStyle/>
          <a:p>
            <a:r>
              <a:rPr lang="en-IN" sz="2800" b="1" dirty="0"/>
              <a:t>1. Hardware Requirements</a:t>
            </a:r>
          </a:p>
          <a:p>
            <a:r>
              <a:rPr lang="en-IN" sz="2800" b="1" dirty="0"/>
              <a:t>Processor:</a:t>
            </a:r>
            <a:r>
              <a:rPr lang="en-IN" sz="2800" dirty="0"/>
              <a:t> Intel Core i3 or above </a:t>
            </a:r>
          </a:p>
          <a:p>
            <a:r>
              <a:rPr lang="en-IN" sz="2800" b="1" dirty="0"/>
              <a:t>RAM:</a:t>
            </a:r>
            <a:r>
              <a:rPr lang="en-IN" sz="2800" dirty="0"/>
              <a:t> Minimum 4 GB </a:t>
            </a:r>
          </a:p>
          <a:p>
            <a:r>
              <a:rPr lang="en-IN" sz="2800" b="1" dirty="0"/>
              <a:t>Hard Disk:</a:t>
            </a:r>
            <a:r>
              <a:rPr lang="en-IN" sz="2800" dirty="0"/>
              <a:t> 500 GB or above </a:t>
            </a:r>
          </a:p>
          <a:p>
            <a:r>
              <a:rPr lang="en-IN" sz="2800" b="1" dirty="0"/>
              <a:t>System:</a:t>
            </a:r>
            <a:r>
              <a:rPr lang="en-IN" sz="2800" dirty="0"/>
              <a:t> Laptop / Desktop Computer </a:t>
            </a:r>
          </a:p>
          <a:p>
            <a:r>
              <a:rPr lang="en-IN" sz="2800" b="1" dirty="0"/>
              <a:t>2. Software Requirements</a:t>
            </a:r>
          </a:p>
          <a:p>
            <a:r>
              <a:rPr lang="en-IN" sz="2800" b="1" dirty="0"/>
              <a:t>Operating System:</a:t>
            </a:r>
            <a:r>
              <a:rPr lang="en-IN" sz="2800" dirty="0"/>
              <a:t> Windows 10 / Windows 11 </a:t>
            </a:r>
          </a:p>
          <a:p>
            <a:r>
              <a:rPr lang="en-IN" sz="2800" b="1" dirty="0"/>
              <a:t>Programming Language:</a:t>
            </a:r>
            <a:r>
              <a:rPr lang="en-IN" sz="2800" dirty="0"/>
              <a:t> Python </a:t>
            </a:r>
          </a:p>
          <a:p>
            <a:r>
              <a:rPr lang="en-IN" sz="2800" b="1" dirty="0"/>
              <a:t>IDE / Tools:</a:t>
            </a:r>
            <a:r>
              <a:rPr lang="en-IN" sz="2800" dirty="0"/>
              <a:t> </a:t>
            </a:r>
            <a:r>
              <a:rPr lang="en-IN" sz="2800" dirty="0" err="1"/>
              <a:t>Jupyter</a:t>
            </a:r>
            <a:r>
              <a:rPr lang="en-IN" sz="2800" dirty="0"/>
              <a:t> Notebook / VS Code / Anaconda </a:t>
            </a:r>
          </a:p>
          <a:p>
            <a:r>
              <a:rPr lang="en-IN" sz="2800" b="1" dirty="0"/>
              <a:t>Database:</a:t>
            </a:r>
            <a:r>
              <a:rPr lang="en-IN" sz="2800" dirty="0"/>
              <a:t> MySQL / CSV Dataset </a:t>
            </a:r>
          </a:p>
          <a:p>
            <a:r>
              <a:rPr lang="en-IN" sz="2800" b="1" dirty="0"/>
              <a:t>Libraries:</a:t>
            </a:r>
            <a:r>
              <a:rPr lang="en-IN" sz="2800" dirty="0"/>
              <a:t> Pandas, NumPy, Matplotlib, Scikit-learn, </a:t>
            </a:r>
            <a:r>
              <a:rPr lang="en-IN" sz="2800" dirty="0" err="1"/>
              <a:t>XGBoost</a:t>
            </a:r>
            <a:endParaRPr lang="en-IN" sz="2800" dirty="0"/>
          </a:p>
          <a:p>
            <a:endParaRPr lang="en-IN" dirty="0"/>
          </a:p>
        </p:txBody>
      </p:sp>
    </p:spTree>
    <p:extLst>
      <p:ext uri="{BB962C8B-B14F-4D97-AF65-F5344CB8AC3E}">
        <p14:creationId xmlns:p14="http://schemas.microsoft.com/office/powerpoint/2010/main" val="1982468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23CE1-EB02-5F04-6701-02242E2EC513}"/>
              </a:ext>
            </a:extLst>
          </p:cNvPr>
          <p:cNvSpPr txBox="1"/>
          <p:nvPr/>
        </p:nvSpPr>
        <p:spPr>
          <a:xfrm>
            <a:off x="960539" y="1836269"/>
            <a:ext cx="8242184" cy="2862322"/>
          </a:xfrm>
          <a:prstGeom prst="rect">
            <a:avLst/>
          </a:prstGeom>
          <a:noFill/>
        </p:spPr>
        <p:txBody>
          <a:bodyPr wrap="square">
            <a:spAutoFit/>
          </a:bodyPr>
          <a:lstStyle/>
          <a:p>
            <a:pPr lvl="0" algn="just" defTabSz="914400" eaLnBrk="0" fontAlgn="base" hangingPunct="0">
              <a:spcBef>
                <a:spcPct val="0"/>
              </a:spcBef>
              <a:spcAft>
                <a:spcPct val="0"/>
              </a:spcAft>
            </a:pPr>
            <a:r>
              <a:rPr lang="en-US" dirty="0"/>
              <a:t>The </a:t>
            </a:r>
            <a:r>
              <a:rPr lang="en-US" b="1" dirty="0"/>
              <a:t>AI Based Product Demand and Sales Trend Analysis for Super Market</a:t>
            </a:r>
            <a:r>
              <a:rPr lang="en-US" dirty="0"/>
              <a:t> system helps supermarkets analyze historical sales data and predict future product demand using Artificial Intelligence techniques. The system collects sales data, processes it, and applies machine learning algorithms to identify patterns and trends in customer purchasing behavior. By predicting future sales, the system helps store managers maintain proper inventory levels, reduce stock shortages, and avoid overstocking. This improves business decision-making and increases operational efficiency. Overall, the proposed system provides an intelligent solution for better sales forecasting and effective supermarket management.</a:t>
            </a:r>
            <a:endParaRPr kumimoji="0" lang="en-US" altLang="en-US" sz="1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7B95DB-80BB-F7D5-56B4-E133866BDC94}"/>
              </a:ext>
            </a:extLst>
          </p:cNvPr>
          <p:cNvSpPr txBox="1"/>
          <p:nvPr/>
        </p:nvSpPr>
        <p:spPr>
          <a:xfrm>
            <a:off x="3368178" y="612288"/>
            <a:ext cx="6098796" cy="769441"/>
          </a:xfrm>
          <a:prstGeom prst="rect">
            <a:avLst/>
          </a:prstGeom>
          <a:noFill/>
        </p:spPr>
        <p:txBody>
          <a:bodyPr wrap="square">
            <a:spAutoFit/>
          </a:bodyPr>
          <a:lstStyle/>
          <a:p>
            <a:r>
              <a:rPr lang="en-IN" sz="4400" dirty="0">
                <a:solidFill>
                  <a:srgbClr val="FF000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229202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EB03A-3589-33D9-7538-FE65B4C1CA3F}"/>
              </a:ext>
            </a:extLst>
          </p:cNvPr>
          <p:cNvSpPr txBox="1"/>
          <p:nvPr/>
        </p:nvSpPr>
        <p:spPr>
          <a:xfrm>
            <a:off x="715981" y="2106521"/>
            <a:ext cx="9097362" cy="1569660"/>
          </a:xfrm>
          <a:prstGeom prst="rect">
            <a:avLst/>
          </a:prstGeom>
          <a:noFill/>
        </p:spPr>
        <p:txBody>
          <a:bodyPr wrap="none" rtlCol="0">
            <a:spAutoFit/>
          </a:bodyPr>
          <a:lstStyle/>
          <a:p>
            <a:r>
              <a:rPr lang="en-IN" sz="9600" dirty="0">
                <a:solidFill>
                  <a:srgbClr val="FF0000"/>
                </a:solidFill>
                <a:latin typeface="Times New Roman" panose="02020603050405020304" pitchFamily="18" charset="0"/>
                <a:cs typeface="Times New Roman" panose="02020603050405020304" pitchFamily="18" charset="0"/>
              </a:rPr>
              <a:t>Any Suggestions</a:t>
            </a:r>
            <a:r>
              <a:rPr lang="en-IN" sz="9600" dirty="0">
                <a:solidFill>
                  <a:srgbClr val="FF0000"/>
                </a:solidFill>
                <a:latin typeface="Algerian" panose="04020705040A02060702" pitchFamily="82" charset="0"/>
              </a:rPr>
              <a:t>?</a:t>
            </a:r>
          </a:p>
        </p:txBody>
      </p:sp>
    </p:spTree>
    <p:extLst>
      <p:ext uri="{BB962C8B-B14F-4D97-AF65-F5344CB8AC3E}">
        <p14:creationId xmlns:p14="http://schemas.microsoft.com/office/powerpoint/2010/main" val="373875798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ouquet of flowers with a tag&#10;&#10;AI-generated content may be incorrect.">
            <a:extLst>
              <a:ext uri="{FF2B5EF4-FFF2-40B4-BE49-F238E27FC236}">
                <a16:creationId xmlns:a16="http://schemas.microsoft.com/office/drawing/2014/main" id="{5B3DE0C9-6F2C-48DA-1F20-07CBB40BA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89069424"/>
      </p:ext>
    </p:extLst>
  </p:cSld>
  <p:clrMapOvr>
    <a:masterClrMapping/>
  </p:clrMapOvr>
  <p:transition spd="slow"/>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427</TotalTime>
  <Words>1365</Words>
  <PresentationFormat>Widescreen</PresentationFormat>
  <Paragraphs>84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Algerian</vt:lpstr>
      <vt:lpstr>Aptos</vt:lpstr>
      <vt:lpstr>Arial</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2025-11-18T12:59:42Z</dcterms:created>
  <dcterms:modified xsi:type="dcterms:W3CDTF">2026-04-11T04:41:05Z</dcterms:modified>
</cp:coreProperties>
</file>