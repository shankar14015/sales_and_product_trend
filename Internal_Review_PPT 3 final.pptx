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8" r:id="rId1"/>
  </p:sldMasterIdLst>
  <p:notesMasterIdLst>
    <p:notesMasterId r:id="rId32"/>
  </p:notesMasterIdLst>
  <p:sldIdLst>
    <p:sldId id="256" r:id="rId2"/>
    <p:sldId id="257" r:id="rId3"/>
    <p:sldId id="258" r:id="rId4"/>
    <p:sldId id="259" r:id="rId5"/>
    <p:sldId id="260" r:id="rId6"/>
    <p:sldId id="261" r:id="rId7"/>
    <p:sldId id="262" r:id="rId8"/>
    <p:sldId id="263" r:id="rId9"/>
    <p:sldId id="315" r:id="rId10"/>
    <p:sldId id="316" r:id="rId11"/>
    <p:sldId id="314" r:id="rId12"/>
    <p:sldId id="265" r:id="rId13"/>
    <p:sldId id="302" r:id="rId14"/>
    <p:sldId id="267" r:id="rId15"/>
    <p:sldId id="271" r:id="rId16"/>
    <p:sldId id="282" r:id="rId17"/>
    <p:sldId id="300" r:id="rId18"/>
    <p:sldId id="305" r:id="rId19"/>
    <p:sldId id="306" r:id="rId20"/>
    <p:sldId id="307" r:id="rId21"/>
    <p:sldId id="308" r:id="rId22"/>
    <p:sldId id="309" r:id="rId23"/>
    <p:sldId id="310" r:id="rId24"/>
    <p:sldId id="311" r:id="rId25"/>
    <p:sldId id="312" r:id="rId26"/>
    <p:sldId id="313" r:id="rId27"/>
    <p:sldId id="303" r:id="rId28"/>
    <p:sldId id="299" r:id="rId29"/>
    <p:sldId id="297" r:id="rId30"/>
    <p:sldId id="298" r:id="rId3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00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4660"/>
  </p:normalViewPr>
  <p:slideViewPr>
    <p:cSldViewPr snapToGrid="0">
      <p:cViewPr varScale="1">
        <p:scale>
          <a:sx n="79" d="100"/>
          <a:sy n="79" d="100"/>
        </p:scale>
        <p:origin x="420" y="96"/>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1C621F-5E46-4AC6-B2A4-C6A6B79540FF}" type="datetimeFigureOut">
              <a:rPr lang="en-IN"/>
              <a:t>12-04-2026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D5F3051-5569-4645-AD54-AEDA4A6B8FC1}" type="slidenum">
              <a:rPr lang="en-IN"/>
              <a:t>‹#›</a:t>
            </a:fld>
            <a:endParaRPr lang="en-IN"/>
          </a:p>
        </p:txBody>
      </p:sp>
    </p:spTree>
    <p:extLst>
      <p:ext uri="{BB962C8B-B14F-4D97-AF65-F5344CB8AC3E}">
        <p14:creationId xmlns:p14="http://schemas.microsoft.com/office/powerpoint/2010/main" val="3531937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BD3EFBE-7814-4E94-8536-52E51A3D289F}" type="datetimeFigureOut">
              <a:rPr lang="en-IN" smtClean="0"/>
              <a:t>12-04-2026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D100AE6-8269-4E23-BC42-D00B2D9109A6}" type="slidenum">
              <a:rPr lang="en-IN" smtClean="0"/>
              <a:t>‹#›</a:t>
            </a:fld>
            <a:endParaRPr lang="en-IN"/>
          </a:p>
        </p:txBody>
      </p:sp>
    </p:spTree>
    <p:extLst>
      <p:ext uri="{BB962C8B-B14F-4D97-AF65-F5344CB8AC3E}">
        <p14:creationId xmlns:p14="http://schemas.microsoft.com/office/powerpoint/2010/main" val="41214262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BD3EFBE-7814-4E94-8536-52E51A3D289F}" type="datetimeFigureOut">
              <a:rPr lang="en-IN" smtClean="0"/>
              <a:pPr/>
              <a:t>12-04-2026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D100AE6-8269-4E23-BC42-D00B2D9109A6}" type="slidenum">
              <a:rPr lang="en-IN" smtClean="0"/>
              <a:pPr/>
              <a:t>‹#›</a:t>
            </a:fld>
            <a:endParaRPr lang="en-IN"/>
          </a:p>
        </p:txBody>
      </p:sp>
    </p:spTree>
    <p:extLst>
      <p:ext uri="{BB962C8B-B14F-4D97-AF65-F5344CB8AC3E}">
        <p14:creationId xmlns:p14="http://schemas.microsoft.com/office/powerpoint/2010/main" val="21015657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BD3EFBE-7814-4E94-8536-52E51A3D289F}" type="datetimeFigureOut">
              <a:rPr lang="en-IN" smtClean="0"/>
              <a:pPr/>
              <a:t>12-04-2026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D100AE6-8269-4E23-BC42-D00B2D9109A6}" type="slidenum">
              <a:rPr lang="en-IN" smtClean="0"/>
              <a:pPr/>
              <a:t>‹#›</a:t>
            </a:fld>
            <a:endParaRPr lang="en-IN"/>
          </a:p>
        </p:txBody>
      </p:sp>
    </p:spTree>
    <p:extLst>
      <p:ext uri="{BB962C8B-B14F-4D97-AF65-F5344CB8AC3E}">
        <p14:creationId xmlns:p14="http://schemas.microsoft.com/office/powerpoint/2010/main" val="34654589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BD3EFBE-7814-4E94-8536-52E51A3D289F}" type="datetimeFigureOut">
              <a:rPr lang="en-IN" smtClean="0"/>
              <a:pPr/>
              <a:t>12-04-2026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D100AE6-8269-4E23-BC42-D00B2D9109A6}" type="slidenum">
              <a:rPr lang="en-IN" smtClean="0"/>
              <a:pPr/>
              <a:t>‹#›</a:t>
            </a:fld>
            <a:endParaRPr lang="en-IN"/>
          </a:p>
        </p:txBody>
      </p:sp>
    </p:spTree>
    <p:extLst>
      <p:ext uri="{BB962C8B-B14F-4D97-AF65-F5344CB8AC3E}">
        <p14:creationId xmlns:p14="http://schemas.microsoft.com/office/powerpoint/2010/main" val="40319016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BD3EFBE-7814-4E94-8536-52E51A3D289F}" type="datetimeFigureOut">
              <a:rPr lang="en-IN" smtClean="0"/>
              <a:pPr/>
              <a:t>12-04-2026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BD100AE6-8269-4E23-BC42-D00B2D9109A6}" type="slidenum">
              <a:rPr lang="en-IN" smtClean="0"/>
              <a:pPr/>
              <a:t>‹#›</a:t>
            </a:fld>
            <a:endParaRPr lang="en-IN"/>
          </a:p>
        </p:txBody>
      </p:sp>
    </p:spTree>
    <p:extLst>
      <p:ext uri="{BB962C8B-B14F-4D97-AF65-F5344CB8AC3E}">
        <p14:creationId xmlns:p14="http://schemas.microsoft.com/office/powerpoint/2010/main" val="24027877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BD3EFBE-7814-4E94-8536-52E51A3D289F}" type="datetimeFigureOut">
              <a:rPr lang="en-IN" smtClean="0"/>
              <a:pPr/>
              <a:t>12-04-2026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BD100AE6-8269-4E23-BC42-D00B2D9109A6}" type="slidenum">
              <a:rPr lang="en-IN" smtClean="0"/>
              <a:pPr/>
              <a:t>‹#›</a:t>
            </a:fld>
            <a:endParaRPr lang="en-IN"/>
          </a:p>
        </p:txBody>
      </p:sp>
    </p:spTree>
    <p:extLst>
      <p:ext uri="{BB962C8B-B14F-4D97-AF65-F5344CB8AC3E}">
        <p14:creationId xmlns:p14="http://schemas.microsoft.com/office/powerpoint/2010/main" val="12955314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BD3EFBE-7814-4E94-8536-52E51A3D289F}" type="datetimeFigureOut">
              <a:rPr lang="en-IN" smtClean="0"/>
              <a:pPr/>
              <a:t>12-04-2026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BD100AE6-8269-4E23-BC42-D00B2D9109A6}" type="slidenum">
              <a:rPr lang="en-IN" smtClean="0"/>
              <a:pPr/>
              <a:t>‹#›</a:t>
            </a:fld>
            <a:endParaRPr lang="en-IN"/>
          </a:p>
        </p:txBody>
      </p:sp>
    </p:spTree>
    <p:extLst>
      <p:ext uri="{BB962C8B-B14F-4D97-AF65-F5344CB8AC3E}">
        <p14:creationId xmlns:p14="http://schemas.microsoft.com/office/powerpoint/2010/main" val="32079777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BD3EFBE-7814-4E94-8536-52E51A3D289F}" type="datetimeFigureOut">
              <a:rPr lang="en-IN" smtClean="0"/>
              <a:pPr/>
              <a:t>12-04-2026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D100AE6-8269-4E23-BC42-D00B2D9109A6}" type="slidenum">
              <a:rPr lang="en-IN" smtClean="0"/>
              <a:pPr/>
              <a:t>‹#›</a:t>
            </a:fld>
            <a:endParaRPr lang="en-IN"/>
          </a:p>
        </p:txBody>
      </p:sp>
    </p:spTree>
    <p:extLst>
      <p:ext uri="{BB962C8B-B14F-4D97-AF65-F5344CB8AC3E}">
        <p14:creationId xmlns:p14="http://schemas.microsoft.com/office/powerpoint/2010/main" val="42334565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BD3EFBE-7814-4E94-8536-52E51A3D289F}" type="datetimeFigureOut">
              <a:rPr lang="en-IN" smtClean="0"/>
              <a:pPr/>
              <a:t>12-04-2026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D100AE6-8269-4E23-BC42-D00B2D9109A6}" type="slidenum">
              <a:rPr lang="en-IN" smtClean="0"/>
              <a:pPr/>
              <a:t>‹#›</a:t>
            </a:fld>
            <a:endParaRPr lang="en-IN"/>
          </a:p>
        </p:txBody>
      </p:sp>
    </p:spTree>
    <p:extLst>
      <p:ext uri="{BB962C8B-B14F-4D97-AF65-F5344CB8AC3E}">
        <p14:creationId xmlns:p14="http://schemas.microsoft.com/office/powerpoint/2010/main" val="29526919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BD3EFBE-7814-4E94-8536-52E51A3D289F}" type="datetimeFigureOut">
              <a:rPr lang="en-IN" smtClean="0"/>
              <a:pPr/>
              <a:t>12-04-2026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D100AE6-8269-4E23-BC42-D00B2D9109A6}" type="slidenum">
              <a:rPr lang="en-IN" smtClean="0"/>
              <a:pPr/>
              <a:t>‹#›</a:t>
            </a:fld>
            <a:endParaRPr lang="en-IN"/>
          </a:p>
        </p:txBody>
      </p:sp>
    </p:spTree>
    <p:extLst>
      <p:ext uri="{BB962C8B-B14F-4D97-AF65-F5344CB8AC3E}">
        <p14:creationId xmlns:p14="http://schemas.microsoft.com/office/powerpoint/2010/main" val="17076430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BD3EFBE-7814-4E94-8536-52E51A3D289F}" type="datetimeFigureOut">
              <a:rPr lang="en-IN" smtClean="0"/>
              <a:pPr/>
              <a:t>12-04-2026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D100AE6-8269-4E23-BC42-D00B2D9109A6}" type="slidenum">
              <a:rPr lang="en-IN" smtClean="0"/>
              <a:pPr/>
              <a:t>‹#›</a:t>
            </a:fld>
            <a:endParaRPr lang="en-IN"/>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230642774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BD3EFBE-7814-4E94-8536-52E51A3D289F}" type="datetimeFigureOut">
              <a:rPr lang="en-IN" smtClean="0"/>
              <a:pPr/>
              <a:t>12-04-2026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D100AE6-8269-4E23-BC42-D00B2D9109A6}" type="slidenum">
              <a:rPr lang="en-IN" smtClean="0"/>
              <a:pPr/>
              <a:t>‹#›</a:t>
            </a:fld>
            <a:endParaRPr lang="en-IN"/>
          </a:p>
        </p:txBody>
      </p:sp>
    </p:spTree>
    <p:extLst>
      <p:ext uri="{BB962C8B-B14F-4D97-AF65-F5344CB8AC3E}">
        <p14:creationId xmlns:p14="http://schemas.microsoft.com/office/powerpoint/2010/main" val="255799613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BD3EFBE-7814-4E94-8536-52E51A3D289F}" type="datetimeFigureOut">
              <a:rPr lang="en-IN" smtClean="0"/>
              <a:pPr/>
              <a:t>12-04-2026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D100AE6-8269-4E23-BC42-D00B2D9109A6}" type="slidenum">
              <a:rPr lang="en-IN" smtClean="0"/>
              <a:pPr/>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9422505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BD3EFBE-7814-4E94-8536-52E51A3D289F}" type="datetimeFigureOut">
              <a:rPr lang="en-IN" smtClean="0"/>
              <a:pPr/>
              <a:t>12-04-2026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D100AE6-8269-4E23-BC42-D00B2D9109A6}" type="slidenum">
              <a:rPr lang="en-IN" smtClean="0"/>
              <a:pPr/>
              <a:t>‹#›</a:t>
            </a:fld>
            <a:endParaRPr lang="en-IN"/>
          </a:p>
        </p:txBody>
      </p:sp>
    </p:spTree>
    <p:extLst>
      <p:ext uri="{BB962C8B-B14F-4D97-AF65-F5344CB8AC3E}">
        <p14:creationId xmlns:p14="http://schemas.microsoft.com/office/powerpoint/2010/main" val="95357575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BD3EFBE-7814-4E94-8536-52E51A3D289F}" type="datetimeFigureOut">
              <a:rPr lang="en-IN" smtClean="0"/>
              <a:pPr/>
              <a:t>12-04-2026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D100AE6-8269-4E23-BC42-D00B2D9109A6}" type="slidenum">
              <a:rPr lang="en-IN" smtClean="0"/>
              <a:pPr/>
              <a:t>‹#›</a:t>
            </a:fld>
            <a:endParaRPr lang="en-IN"/>
          </a:p>
        </p:txBody>
      </p:sp>
    </p:spTree>
    <p:extLst>
      <p:ext uri="{BB962C8B-B14F-4D97-AF65-F5344CB8AC3E}">
        <p14:creationId xmlns:p14="http://schemas.microsoft.com/office/powerpoint/2010/main" val="320222756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BD3EFBE-7814-4E94-8536-52E51A3D289F}" type="datetimeFigureOut">
              <a:rPr lang="en-IN" smtClean="0"/>
              <a:pPr/>
              <a:t>12-04-2026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D100AE6-8269-4E23-BC42-D00B2D9109A6}" type="slidenum">
              <a:rPr lang="en-IN" smtClean="0"/>
              <a:pPr/>
              <a:t>‹#›</a:t>
            </a:fld>
            <a:endParaRPr lang="en-IN"/>
          </a:p>
        </p:txBody>
      </p:sp>
    </p:spTree>
    <p:extLst>
      <p:ext uri="{BB962C8B-B14F-4D97-AF65-F5344CB8AC3E}">
        <p14:creationId xmlns:p14="http://schemas.microsoft.com/office/powerpoint/2010/main" val="32611137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7BD3EFBE-7814-4E94-8536-52E51A3D289F}" type="datetimeFigureOut">
              <a:rPr lang="en-IN" smtClean="0"/>
              <a:pPr/>
              <a:t>12-04-2026</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BD100AE6-8269-4E23-BC42-D00B2D9109A6}" type="slidenum">
              <a:rPr lang="en-IN" smtClean="0"/>
              <a:pPr/>
              <a:t>‹#›</a:t>
            </a:fld>
            <a:endParaRPr lang="en-IN"/>
          </a:p>
        </p:txBody>
      </p:sp>
    </p:spTree>
    <p:extLst>
      <p:ext uri="{BB962C8B-B14F-4D97-AF65-F5344CB8AC3E}">
        <p14:creationId xmlns:p14="http://schemas.microsoft.com/office/powerpoint/2010/main" val="156002524"/>
      </p:ext>
    </p:extLst>
  </p:cSld>
  <p:clrMap bg1="lt1" tx1="dk1" bg2="lt2" tx2="dk2" accent1="accent1" accent2="accent2" accent3="accent3" accent4="accent4" accent5="accent5" accent6="accent6" hlink="hlink" folHlink="folHlink"/>
  <p:sldLayoutIdLst>
    <p:sldLayoutId id="2147483689" r:id="rId1"/>
    <p:sldLayoutId id="2147483690" r:id="rId2"/>
    <p:sldLayoutId id="2147483691" r:id="rId3"/>
    <p:sldLayoutId id="2147483692" r:id="rId4"/>
    <p:sldLayoutId id="2147483693" r:id="rId5"/>
    <p:sldLayoutId id="2147483694" r:id="rId6"/>
    <p:sldLayoutId id="2147483695" r:id="rId7"/>
    <p:sldLayoutId id="2147483696" r:id="rId8"/>
    <p:sldLayoutId id="2147483697" r:id="rId9"/>
    <p:sldLayoutId id="2147483698" r:id="rId10"/>
    <p:sldLayoutId id="2147483699" r:id="rId11"/>
    <p:sldLayoutId id="2147483700" r:id="rId12"/>
    <p:sldLayoutId id="2147483701" r:id="rId13"/>
    <p:sldLayoutId id="2147483702" r:id="rId14"/>
    <p:sldLayoutId id="2147483703" r:id="rId15"/>
    <p:sldLayoutId id="2147483704"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C8012E5-F408-9128-2ECC-C88593D0AF1B}"/>
              </a:ext>
            </a:extLst>
          </p:cNvPr>
          <p:cNvSpPr txBox="1"/>
          <p:nvPr/>
        </p:nvSpPr>
        <p:spPr>
          <a:xfrm>
            <a:off x="1431159" y="333513"/>
            <a:ext cx="8484433" cy="2308324"/>
          </a:xfrm>
          <a:prstGeom prst="rect">
            <a:avLst/>
          </a:prstGeom>
          <a:noFill/>
        </p:spPr>
        <p:txBody>
          <a:bodyPr wrap="square" rtlCol="0">
            <a:spAutoFit/>
          </a:bodyPr>
          <a:lstStyle/>
          <a:p>
            <a:r>
              <a:rPr lang="en-IN" sz="2400" dirty="0">
                <a:latin typeface="Algerian" panose="04020705040A02060702" pitchFamily="82" charset="0"/>
              </a:rPr>
              <a:t>       </a:t>
            </a:r>
            <a:r>
              <a:rPr lang="en-IN" sz="3600" dirty="0" err="1">
                <a:latin typeface="Times New Roman" panose="02020603050405020304" pitchFamily="18" charset="0"/>
                <a:cs typeface="Times New Roman" panose="02020603050405020304" pitchFamily="18" charset="0"/>
              </a:rPr>
              <a:t>Bapatla</a:t>
            </a:r>
            <a:r>
              <a:rPr lang="en-IN" sz="3600" dirty="0">
                <a:latin typeface="Times New Roman" panose="02020603050405020304" pitchFamily="18" charset="0"/>
                <a:cs typeface="Times New Roman" panose="02020603050405020304" pitchFamily="18" charset="0"/>
              </a:rPr>
              <a:t> Engineering College::</a:t>
            </a:r>
            <a:r>
              <a:rPr lang="en-IN" sz="3600" dirty="0" err="1">
                <a:latin typeface="Times New Roman" panose="02020603050405020304" pitchFamily="18" charset="0"/>
                <a:cs typeface="Times New Roman" panose="02020603050405020304" pitchFamily="18" charset="0"/>
              </a:rPr>
              <a:t>Bapatla</a:t>
            </a:r>
            <a:endParaRPr lang="en-IN" sz="3600" dirty="0">
              <a:latin typeface="Times New Roman" panose="02020603050405020304" pitchFamily="18" charset="0"/>
              <a:cs typeface="Times New Roman" panose="02020603050405020304" pitchFamily="18" charset="0"/>
            </a:endParaRPr>
          </a:p>
          <a:p>
            <a:pPr algn="ctr"/>
            <a:r>
              <a:rPr lang="en-IN" sz="3600" dirty="0">
                <a:latin typeface="Times New Roman" panose="02020603050405020304" pitchFamily="18" charset="0"/>
                <a:cs typeface="Times New Roman" panose="02020603050405020304" pitchFamily="18" charset="0"/>
              </a:rPr>
              <a:t>(Autonomous)</a:t>
            </a:r>
          </a:p>
          <a:p>
            <a:r>
              <a:rPr lang="en-IN" sz="3600" dirty="0">
                <a:latin typeface="Times New Roman" panose="02020603050405020304" pitchFamily="18" charset="0"/>
                <a:cs typeface="Times New Roman" panose="02020603050405020304" pitchFamily="18" charset="0"/>
              </a:rPr>
              <a:t>     Department of Information Technology</a:t>
            </a:r>
          </a:p>
          <a:p>
            <a:r>
              <a:rPr lang="en-IN" sz="3600" dirty="0">
                <a:latin typeface="Times New Roman" panose="02020603050405020304" pitchFamily="18" charset="0"/>
                <a:cs typeface="Times New Roman" panose="02020603050405020304" pitchFamily="18" charset="0"/>
              </a:rPr>
              <a:t>        </a:t>
            </a:r>
          </a:p>
        </p:txBody>
      </p:sp>
      <p:sp>
        <p:nvSpPr>
          <p:cNvPr id="6" name="TextBox 5">
            <a:extLst>
              <a:ext uri="{FF2B5EF4-FFF2-40B4-BE49-F238E27FC236}">
                <a16:creationId xmlns:a16="http://schemas.microsoft.com/office/drawing/2014/main" id="{50958BE5-ED3E-4064-8463-6BF1478ACA08}"/>
              </a:ext>
            </a:extLst>
          </p:cNvPr>
          <p:cNvSpPr txBox="1"/>
          <p:nvPr/>
        </p:nvSpPr>
        <p:spPr>
          <a:xfrm>
            <a:off x="2517285" y="4058455"/>
            <a:ext cx="6314549" cy="1754326"/>
          </a:xfrm>
          <a:prstGeom prst="rect">
            <a:avLst/>
          </a:prstGeom>
          <a:noFill/>
        </p:spPr>
        <p:txBody>
          <a:bodyPr wrap="none" rtlCol="0">
            <a:spAutoFit/>
          </a:bodyPr>
          <a:lstStyle/>
          <a:p>
            <a:r>
              <a:rPr lang="en-IN" sz="3600" dirty="0">
                <a:solidFill>
                  <a:schemeClr val="tx1">
                    <a:lumMod val="95000"/>
                    <a:lumOff val="5000"/>
                  </a:schemeClr>
                </a:solidFill>
                <a:latin typeface="Times New Roman" panose="02020603050405020304" pitchFamily="18" charset="0"/>
                <a:cs typeface="Times New Roman" panose="02020603050405020304" pitchFamily="18" charset="0"/>
              </a:rPr>
              <a:t>Under the Esteemed Guidance of</a:t>
            </a:r>
          </a:p>
          <a:p>
            <a:r>
              <a:rPr lang="en-IN" sz="3600" dirty="0">
                <a:solidFill>
                  <a:schemeClr val="tx1">
                    <a:lumMod val="95000"/>
                    <a:lumOff val="5000"/>
                  </a:schemeClr>
                </a:solidFill>
                <a:latin typeface="Times New Roman" panose="02020603050405020304" pitchFamily="18" charset="0"/>
                <a:cs typeface="Times New Roman" panose="02020603050405020304" pitchFamily="18" charset="0"/>
              </a:rPr>
              <a:t>           </a:t>
            </a:r>
            <a:r>
              <a:rPr lang="en-GB" sz="3600" dirty="0">
                <a:latin typeface="Times New Roman" panose="02020603050405020304" pitchFamily="18" charset="0"/>
                <a:cs typeface="Times New Roman" panose="02020603050405020304" pitchFamily="18" charset="0"/>
              </a:rPr>
              <a:t> Dr. </a:t>
            </a:r>
            <a:r>
              <a:rPr lang="en-GB" sz="3600" dirty="0" err="1">
                <a:latin typeface="Times New Roman" panose="02020603050405020304" pitchFamily="18" charset="0"/>
                <a:cs typeface="Times New Roman" panose="02020603050405020304" pitchFamily="18" charset="0"/>
              </a:rPr>
              <a:t>B.Krishnaiah</a:t>
            </a:r>
            <a:endParaRPr lang="en-GB" sz="3600" dirty="0">
              <a:latin typeface="Times New Roman" panose="02020603050405020304" pitchFamily="18" charset="0"/>
              <a:cs typeface="Times New Roman" panose="02020603050405020304" pitchFamily="18" charset="0"/>
            </a:endParaRPr>
          </a:p>
          <a:p>
            <a:r>
              <a:rPr lang="en-IN" sz="3600" dirty="0">
                <a:solidFill>
                  <a:schemeClr val="tx1">
                    <a:lumMod val="95000"/>
                    <a:lumOff val="5000"/>
                  </a:schemeClr>
                </a:solidFill>
                <a:latin typeface="Times New Roman" panose="02020603050405020304" pitchFamily="18" charset="0"/>
                <a:cs typeface="Times New Roman" panose="02020603050405020304" pitchFamily="18" charset="0"/>
              </a:rPr>
              <a:t> </a:t>
            </a:r>
          </a:p>
        </p:txBody>
      </p:sp>
      <p:sp>
        <p:nvSpPr>
          <p:cNvPr id="7" name="TextBox 6">
            <a:extLst>
              <a:ext uri="{FF2B5EF4-FFF2-40B4-BE49-F238E27FC236}">
                <a16:creationId xmlns:a16="http://schemas.microsoft.com/office/drawing/2014/main" id="{292DEE5E-6371-6CEE-B4B1-53EB1040E001}"/>
              </a:ext>
            </a:extLst>
          </p:cNvPr>
          <p:cNvSpPr txBox="1"/>
          <p:nvPr/>
        </p:nvSpPr>
        <p:spPr>
          <a:xfrm>
            <a:off x="2178191" y="2641837"/>
            <a:ext cx="7167347" cy="923330"/>
          </a:xfrm>
          <a:prstGeom prst="rect">
            <a:avLst/>
          </a:prstGeom>
          <a:noFill/>
        </p:spPr>
        <p:txBody>
          <a:bodyPr wrap="none" rtlCol="0">
            <a:spAutoFit/>
          </a:bodyPr>
          <a:lstStyle/>
          <a:p>
            <a:r>
              <a:rPr lang="en-IN" sz="5400" dirty="0">
                <a:latin typeface="Times New Roman" panose="02020603050405020304" pitchFamily="18" charset="0"/>
                <a:cs typeface="Times New Roman" panose="02020603050405020304" pitchFamily="18" charset="0"/>
              </a:rPr>
              <a:t>Internal Project Review </a:t>
            </a:r>
          </a:p>
        </p:txBody>
      </p:sp>
    </p:spTree>
    <p:extLst>
      <p:ext uri="{BB962C8B-B14F-4D97-AF65-F5344CB8AC3E}">
        <p14:creationId xmlns:p14="http://schemas.microsoft.com/office/powerpoint/2010/main" val="1539800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E95805C-E5D0-5D06-36E8-9B398F01A37C}"/>
              </a:ext>
            </a:extLst>
          </p:cNvPr>
          <p:cNvSpPr txBox="1"/>
          <p:nvPr/>
        </p:nvSpPr>
        <p:spPr>
          <a:xfrm>
            <a:off x="2654710" y="812932"/>
            <a:ext cx="4238661" cy="1015663"/>
          </a:xfrm>
          <a:prstGeom prst="rect">
            <a:avLst/>
          </a:prstGeom>
          <a:noFill/>
        </p:spPr>
        <p:txBody>
          <a:bodyPr wrap="none" rtlCol="0">
            <a:spAutoFit/>
          </a:bodyPr>
          <a:lstStyle/>
          <a:p>
            <a:r>
              <a:rPr lang="en-IN" sz="4800" dirty="0">
                <a:solidFill>
                  <a:srgbClr val="FF0000"/>
                </a:solidFill>
                <a:latin typeface="Times New Roman" panose="02020603050405020304" pitchFamily="18" charset="0"/>
                <a:cs typeface="Times New Roman" panose="02020603050405020304" pitchFamily="18" charset="0"/>
              </a:rPr>
              <a:t>Batch</a:t>
            </a:r>
            <a:r>
              <a:rPr lang="en-IN" sz="6000" b="1" dirty="0">
                <a:solidFill>
                  <a:srgbClr val="FF0000"/>
                </a:solidFill>
                <a:latin typeface="Times New Roman" panose="02020603050405020304" pitchFamily="18" charset="0"/>
                <a:cs typeface="Times New Roman" panose="02020603050405020304" pitchFamily="18" charset="0"/>
              </a:rPr>
              <a:t> </a:t>
            </a:r>
            <a:r>
              <a:rPr lang="en-IN" sz="4800" dirty="0">
                <a:solidFill>
                  <a:srgbClr val="FF0000"/>
                </a:solidFill>
                <a:latin typeface="Times New Roman" panose="02020603050405020304" pitchFamily="18" charset="0"/>
                <a:cs typeface="Times New Roman" panose="02020603050405020304" pitchFamily="18" charset="0"/>
              </a:rPr>
              <a:t>Members</a:t>
            </a:r>
          </a:p>
        </p:txBody>
      </p:sp>
      <p:sp>
        <p:nvSpPr>
          <p:cNvPr id="3" name="TextBox 2">
            <a:extLst>
              <a:ext uri="{FF2B5EF4-FFF2-40B4-BE49-F238E27FC236}">
                <a16:creationId xmlns:a16="http://schemas.microsoft.com/office/drawing/2014/main" id="{6EA6EB39-64AE-70C9-9DBF-5F19D0FDE12F}"/>
              </a:ext>
            </a:extLst>
          </p:cNvPr>
          <p:cNvSpPr txBox="1"/>
          <p:nvPr/>
        </p:nvSpPr>
        <p:spPr>
          <a:xfrm>
            <a:off x="2654710" y="2113148"/>
            <a:ext cx="5266643" cy="1815882"/>
          </a:xfrm>
          <a:prstGeom prst="rect">
            <a:avLst/>
          </a:prstGeom>
          <a:noFill/>
        </p:spPr>
        <p:txBody>
          <a:bodyPr wrap="square" rtlCol="0">
            <a:spAutoFit/>
          </a:bodyPr>
          <a:lstStyle/>
          <a:p>
            <a:r>
              <a:rPr lang="en-GB" sz="2800" dirty="0">
                <a:latin typeface="Times New Roman" panose="02020603050405020304" pitchFamily="18" charset="0"/>
                <a:cs typeface="Times New Roman" panose="02020603050405020304" pitchFamily="18" charset="0"/>
              </a:rPr>
              <a:t>M.SHANKAR-Y22AIT475</a:t>
            </a:r>
          </a:p>
          <a:p>
            <a:r>
              <a:rPr lang="en-GB" sz="2800" dirty="0">
                <a:latin typeface="Times New Roman" panose="02020603050405020304" pitchFamily="18" charset="0"/>
                <a:cs typeface="Times New Roman" panose="02020603050405020304" pitchFamily="18" charset="0"/>
              </a:rPr>
              <a:t>N.SIVA KUMARI-Y22AIT484</a:t>
            </a:r>
          </a:p>
          <a:p>
            <a:r>
              <a:rPr lang="en-GB" sz="2800" dirty="0">
                <a:latin typeface="Times New Roman" panose="02020603050405020304" pitchFamily="18" charset="0"/>
                <a:cs typeface="Times New Roman" panose="02020603050405020304" pitchFamily="18" charset="0"/>
              </a:rPr>
              <a:t>Y.JITENDRA-Y22AIT527</a:t>
            </a:r>
          </a:p>
          <a:p>
            <a:r>
              <a:rPr lang="en-GB" sz="2800" dirty="0">
                <a:latin typeface="Times New Roman" panose="02020603050405020304" pitchFamily="18" charset="0"/>
                <a:cs typeface="Times New Roman" panose="02020603050405020304" pitchFamily="18" charset="0"/>
              </a:rPr>
              <a:t>P.LALITHA-Y22AIT490</a:t>
            </a:r>
          </a:p>
        </p:txBody>
      </p:sp>
    </p:spTree>
    <p:extLst>
      <p:ext uri="{BB962C8B-B14F-4D97-AF65-F5344CB8AC3E}">
        <p14:creationId xmlns:p14="http://schemas.microsoft.com/office/powerpoint/2010/main" val="33602623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F345976-017D-F00C-A98C-D00AA705BA96}"/>
              </a:ext>
            </a:extLst>
          </p:cNvPr>
          <p:cNvSpPr txBox="1"/>
          <p:nvPr/>
        </p:nvSpPr>
        <p:spPr>
          <a:xfrm>
            <a:off x="4308727" y="1225494"/>
            <a:ext cx="1608325" cy="1015663"/>
          </a:xfrm>
          <a:prstGeom prst="rect">
            <a:avLst/>
          </a:prstGeom>
          <a:noFill/>
        </p:spPr>
        <p:txBody>
          <a:bodyPr wrap="none" rtlCol="0">
            <a:spAutoFit/>
          </a:bodyPr>
          <a:lstStyle/>
          <a:p>
            <a:r>
              <a:rPr lang="en-IN" sz="6000" dirty="0">
                <a:solidFill>
                  <a:srgbClr val="FF0000"/>
                </a:solidFill>
                <a:latin typeface="Times New Roman" panose="02020603050405020304" pitchFamily="18" charset="0"/>
                <a:cs typeface="Times New Roman" panose="02020603050405020304" pitchFamily="18" charset="0"/>
              </a:rPr>
              <a:t>Title</a:t>
            </a:r>
          </a:p>
        </p:txBody>
      </p:sp>
      <p:sp>
        <p:nvSpPr>
          <p:cNvPr id="3" name="TextBox 2">
            <a:extLst>
              <a:ext uri="{FF2B5EF4-FFF2-40B4-BE49-F238E27FC236}">
                <a16:creationId xmlns:a16="http://schemas.microsoft.com/office/drawing/2014/main" id="{72CB7FBF-8919-3ADE-0DDB-A0DAF454AA9C}"/>
              </a:ext>
            </a:extLst>
          </p:cNvPr>
          <p:cNvSpPr txBox="1"/>
          <p:nvPr/>
        </p:nvSpPr>
        <p:spPr>
          <a:xfrm>
            <a:off x="1263445" y="2622460"/>
            <a:ext cx="9665110" cy="1077218"/>
          </a:xfrm>
          <a:prstGeom prst="rect">
            <a:avLst/>
          </a:prstGeom>
          <a:noFill/>
        </p:spPr>
        <p:txBody>
          <a:bodyPr wrap="square" rtlCol="0">
            <a:spAutoFit/>
          </a:bodyPr>
          <a:lstStyle/>
          <a:p>
            <a:r>
              <a:rPr lang="en-GB" sz="3200" dirty="0">
                <a:latin typeface="Times New Roman" panose="02020603050405020304" pitchFamily="18" charset="0"/>
                <a:cs typeface="Times New Roman" panose="02020603050405020304" pitchFamily="18" charset="0"/>
              </a:rPr>
              <a:t>AI BASED PRODUCT DEMAND AND SALES TREND ANALYSIS FOR SUPER MARKET</a:t>
            </a:r>
          </a:p>
        </p:txBody>
      </p:sp>
    </p:spTree>
    <p:extLst>
      <p:ext uri="{BB962C8B-B14F-4D97-AF65-F5344CB8AC3E}">
        <p14:creationId xmlns:p14="http://schemas.microsoft.com/office/powerpoint/2010/main" val="12184275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8E06375-21B7-CA06-53C9-4348C6CA7938}"/>
              </a:ext>
            </a:extLst>
          </p:cNvPr>
          <p:cNvSpPr txBox="1"/>
          <p:nvPr/>
        </p:nvSpPr>
        <p:spPr>
          <a:xfrm>
            <a:off x="-869427" y="0"/>
            <a:ext cx="11167672" cy="830997"/>
          </a:xfrm>
          <a:prstGeom prst="rect">
            <a:avLst/>
          </a:prstGeom>
          <a:noFill/>
        </p:spPr>
        <p:txBody>
          <a:bodyPr wrap="square" rtlCol="0">
            <a:spAutoFit/>
          </a:bodyPr>
          <a:lstStyle/>
          <a:p>
            <a:pPr algn="ctr"/>
            <a:r>
              <a:rPr lang="en-IN" sz="4800" dirty="0">
                <a:solidFill>
                  <a:srgbClr val="FF0000"/>
                </a:solidFill>
                <a:latin typeface="Times New Roman" panose="02020603050405020304" pitchFamily="18" charset="0"/>
                <a:cs typeface="Times New Roman" panose="02020603050405020304" pitchFamily="18" charset="0"/>
              </a:rPr>
              <a:t>Table of Contents</a:t>
            </a:r>
          </a:p>
        </p:txBody>
      </p:sp>
      <p:sp>
        <p:nvSpPr>
          <p:cNvPr id="3" name="TextBox 2">
            <a:extLst>
              <a:ext uri="{FF2B5EF4-FFF2-40B4-BE49-F238E27FC236}">
                <a16:creationId xmlns:a16="http://schemas.microsoft.com/office/drawing/2014/main" id="{1AE27EB9-1F8F-A213-1DB5-A6A65AEFDB94}"/>
              </a:ext>
            </a:extLst>
          </p:cNvPr>
          <p:cNvSpPr txBox="1"/>
          <p:nvPr/>
        </p:nvSpPr>
        <p:spPr>
          <a:xfrm>
            <a:off x="626911" y="717755"/>
            <a:ext cx="5980366" cy="5909310"/>
          </a:xfrm>
          <a:prstGeom prst="rect">
            <a:avLst/>
          </a:prstGeom>
          <a:noFill/>
        </p:spPr>
        <p:txBody>
          <a:bodyPr wrap="square" rtlCol="0">
            <a:spAutoFit/>
          </a:bodyPr>
          <a:lstStyle/>
          <a:p>
            <a:pPr marL="571500" indent="-571500">
              <a:buFont typeface="Wingdings" panose="05000000000000000000" pitchFamily="2" charset="2"/>
              <a:buChar char="Ø"/>
            </a:pPr>
            <a:r>
              <a:rPr lang="en-IN" sz="2400" dirty="0">
                <a:solidFill>
                  <a:srgbClr val="002060"/>
                </a:solidFill>
                <a:latin typeface="Times New Roman" panose="02020603050405020304" pitchFamily="18" charset="0"/>
                <a:cs typeface="Times New Roman" panose="02020603050405020304" pitchFamily="18" charset="0"/>
              </a:rPr>
              <a:t>Abstract</a:t>
            </a:r>
          </a:p>
          <a:p>
            <a:pPr marL="571500" indent="-571500">
              <a:buFont typeface="Wingdings" panose="05000000000000000000" pitchFamily="2" charset="2"/>
              <a:buChar char="Ø"/>
            </a:pPr>
            <a:r>
              <a:rPr lang="en-IN" sz="2400" dirty="0">
                <a:solidFill>
                  <a:srgbClr val="002060"/>
                </a:solidFill>
                <a:latin typeface="Times New Roman" panose="02020603050405020304" pitchFamily="18" charset="0"/>
                <a:cs typeface="Times New Roman" panose="02020603050405020304" pitchFamily="18" charset="0"/>
              </a:rPr>
              <a:t>Introduction</a:t>
            </a:r>
          </a:p>
          <a:p>
            <a:pPr marL="571500" indent="-571500">
              <a:buFont typeface="Wingdings" panose="05000000000000000000" pitchFamily="2" charset="2"/>
              <a:buChar char="Ø"/>
            </a:pPr>
            <a:r>
              <a:rPr lang="en-IN" sz="2400" dirty="0">
                <a:solidFill>
                  <a:srgbClr val="002060"/>
                </a:solidFill>
                <a:latin typeface="Times New Roman" panose="02020603050405020304" pitchFamily="18" charset="0"/>
                <a:cs typeface="Times New Roman" panose="02020603050405020304" pitchFamily="18" charset="0"/>
              </a:rPr>
              <a:t>Problem Statement</a:t>
            </a:r>
          </a:p>
          <a:p>
            <a:pPr marL="571500" indent="-571500">
              <a:buFont typeface="Wingdings" panose="05000000000000000000" pitchFamily="2" charset="2"/>
              <a:buChar char="Ø"/>
            </a:pPr>
            <a:r>
              <a:rPr lang="en-IN" sz="2400" dirty="0">
                <a:solidFill>
                  <a:srgbClr val="002060"/>
                </a:solidFill>
                <a:latin typeface="Times New Roman" panose="02020603050405020304" pitchFamily="18" charset="0"/>
                <a:cs typeface="Times New Roman" panose="02020603050405020304" pitchFamily="18" charset="0"/>
              </a:rPr>
              <a:t>Literature Survey</a:t>
            </a:r>
          </a:p>
          <a:p>
            <a:pPr marL="571500" indent="-571500">
              <a:buFont typeface="Wingdings" panose="05000000000000000000" pitchFamily="2" charset="2"/>
              <a:buChar char="Ø"/>
            </a:pPr>
            <a:r>
              <a:rPr lang="en-IN" sz="2400" dirty="0">
                <a:solidFill>
                  <a:srgbClr val="002060"/>
                </a:solidFill>
                <a:latin typeface="Times New Roman" panose="02020603050405020304" pitchFamily="18" charset="0"/>
                <a:cs typeface="Times New Roman" panose="02020603050405020304" pitchFamily="18" charset="0"/>
              </a:rPr>
              <a:t>Existing System</a:t>
            </a:r>
          </a:p>
          <a:p>
            <a:pPr marL="571500" indent="-571500">
              <a:buFont typeface="Wingdings" panose="05000000000000000000" pitchFamily="2" charset="2"/>
              <a:buChar char="Ø"/>
            </a:pPr>
            <a:r>
              <a:rPr lang="en-IN" sz="2400" dirty="0">
                <a:solidFill>
                  <a:srgbClr val="002060"/>
                </a:solidFill>
                <a:latin typeface="Times New Roman" panose="02020603050405020304" pitchFamily="18" charset="0"/>
                <a:cs typeface="Times New Roman" panose="02020603050405020304" pitchFamily="18" charset="0"/>
              </a:rPr>
              <a:t>Proposed System</a:t>
            </a:r>
          </a:p>
          <a:p>
            <a:pPr marL="571500" indent="-571500">
              <a:buFont typeface="Wingdings" panose="05000000000000000000" pitchFamily="2" charset="2"/>
              <a:buChar char="Ø"/>
            </a:pPr>
            <a:r>
              <a:rPr lang="en-IN" sz="2400" dirty="0">
                <a:solidFill>
                  <a:srgbClr val="002060"/>
                </a:solidFill>
                <a:latin typeface="Times New Roman" panose="02020603050405020304" pitchFamily="18" charset="0"/>
                <a:cs typeface="Times New Roman" panose="02020603050405020304" pitchFamily="18" charset="0"/>
              </a:rPr>
              <a:t>System Architecture</a:t>
            </a:r>
          </a:p>
          <a:p>
            <a:pPr marL="571500" indent="-571500">
              <a:buFont typeface="Wingdings" panose="05000000000000000000" pitchFamily="2" charset="2"/>
              <a:buChar char="Ø"/>
            </a:pPr>
            <a:r>
              <a:rPr lang="en-IN" sz="2400" dirty="0">
                <a:solidFill>
                  <a:srgbClr val="002060"/>
                </a:solidFill>
                <a:latin typeface="Times New Roman" panose="02020603050405020304" pitchFamily="18" charset="0"/>
                <a:cs typeface="Times New Roman" panose="02020603050405020304" pitchFamily="18" charset="0"/>
              </a:rPr>
              <a:t>Flow Chart</a:t>
            </a:r>
          </a:p>
          <a:p>
            <a:pPr marL="571500" indent="-571500">
              <a:buFont typeface="Wingdings" panose="05000000000000000000" pitchFamily="2" charset="2"/>
              <a:buChar char="Ø"/>
            </a:pPr>
            <a:r>
              <a:rPr lang="en-IN" sz="2400" dirty="0">
                <a:solidFill>
                  <a:srgbClr val="002060"/>
                </a:solidFill>
                <a:latin typeface="Times New Roman" panose="02020603050405020304" pitchFamily="18" charset="0"/>
                <a:cs typeface="Times New Roman" panose="02020603050405020304" pitchFamily="18" charset="0"/>
              </a:rPr>
              <a:t>Modules</a:t>
            </a:r>
          </a:p>
          <a:p>
            <a:pPr marL="285750" indent="-285750">
              <a:buFont typeface="Wingdings" panose="05000000000000000000" pitchFamily="2" charset="2"/>
              <a:buChar char="Ø"/>
            </a:pPr>
            <a:r>
              <a:rPr lang="en-IN" sz="2400" dirty="0">
                <a:solidFill>
                  <a:srgbClr val="002060"/>
                </a:solidFill>
                <a:latin typeface="Times New Roman" panose="02020603050405020304" pitchFamily="18" charset="0"/>
                <a:cs typeface="Times New Roman" panose="02020603050405020304" pitchFamily="18" charset="0"/>
              </a:rPr>
              <a:t>    Methodology</a:t>
            </a:r>
          </a:p>
          <a:p>
            <a:pPr marL="285750" indent="-285750">
              <a:buFont typeface="Wingdings" panose="05000000000000000000" pitchFamily="2" charset="2"/>
              <a:buChar char="Ø"/>
            </a:pPr>
            <a:r>
              <a:rPr lang="en-IN" sz="2400" dirty="0">
                <a:solidFill>
                  <a:srgbClr val="002060"/>
                </a:solidFill>
                <a:latin typeface="Times New Roman" panose="02020603050405020304" pitchFamily="18" charset="0"/>
                <a:cs typeface="Times New Roman" panose="02020603050405020304" pitchFamily="18" charset="0"/>
              </a:rPr>
              <a:t>    Algorithm Working</a:t>
            </a:r>
          </a:p>
          <a:p>
            <a:pPr marL="285750" indent="-285750">
              <a:buFont typeface="Wingdings" panose="05000000000000000000" pitchFamily="2" charset="2"/>
              <a:buChar char="Ø"/>
            </a:pPr>
            <a:r>
              <a:rPr lang="en-IN" sz="2400" dirty="0">
                <a:solidFill>
                  <a:srgbClr val="002060"/>
                </a:solidFill>
                <a:latin typeface="Times New Roman" panose="02020603050405020304" pitchFamily="18" charset="0"/>
                <a:cs typeface="Times New Roman" panose="02020603050405020304" pitchFamily="18" charset="0"/>
              </a:rPr>
              <a:t>    Implementation or Snapshots</a:t>
            </a:r>
          </a:p>
          <a:p>
            <a:pPr marL="571500" indent="-571500">
              <a:buFont typeface="Wingdings" panose="05000000000000000000" pitchFamily="2" charset="2"/>
              <a:buChar char="Ø"/>
            </a:pPr>
            <a:r>
              <a:rPr lang="en-IN" sz="2400" dirty="0">
                <a:solidFill>
                  <a:srgbClr val="002060"/>
                </a:solidFill>
                <a:latin typeface="Times New Roman" panose="02020603050405020304" pitchFamily="18" charset="0"/>
                <a:cs typeface="Times New Roman" panose="02020603050405020304" pitchFamily="18" charset="0"/>
              </a:rPr>
              <a:t>Requirements</a:t>
            </a:r>
          </a:p>
          <a:p>
            <a:pPr marL="571500" indent="-571500">
              <a:buFont typeface="Wingdings" panose="05000000000000000000" pitchFamily="2" charset="2"/>
              <a:buChar char="Ø"/>
            </a:pPr>
            <a:r>
              <a:rPr lang="en-IN" sz="2400" dirty="0">
                <a:solidFill>
                  <a:srgbClr val="002060"/>
                </a:solidFill>
                <a:latin typeface="Times New Roman" panose="02020603050405020304" pitchFamily="18" charset="0"/>
                <a:cs typeface="Times New Roman" panose="02020603050405020304" pitchFamily="18" charset="0"/>
              </a:rPr>
              <a:t>Future Enhancements</a:t>
            </a:r>
          </a:p>
          <a:p>
            <a:pPr marL="571500" indent="-571500">
              <a:buFont typeface="Wingdings" panose="05000000000000000000" pitchFamily="2" charset="2"/>
              <a:buChar char="Ø"/>
            </a:pPr>
            <a:r>
              <a:rPr lang="en-IN" sz="2400" dirty="0">
                <a:solidFill>
                  <a:srgbClr val="002060"/>
                </a:solidFill>
                <a:latin typeface="Times New Roman" panose="02020603050405020304" pitchFamily="18" charset="0"/>
                <a:cs typeface="Times New Roman" panose="02020603050405020304" pitchFamily="18" charset="0"/>
              </a:rPr>
              <a:t>Conclusion</a:t>
            </a:r>
          </a:p>
          <a:p>
            <a:pPr marL="285750" indent="-285750">
              <a:buFont typeface="Wingdings" panose="05000000000000000000" pitchFamily="2" charset="2"/>
              <a:buChar char="Ø"/>
            </a:pPr>
            <a:endParaRPr lang="en-IN" dirty="0"/>
          </a:p>
        </p:txBody>
      </p:sp>
    </p:spTree>
    <p:extLst>
      <p:ext uri="{BB962C8B-B14F-4D97-AF65-F5344CB8AC3E}">
        <p14:creationId xmlns:p14="http://schemas.microsoft.com/office/powerpoint/2010/main" val="35855967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CC0D274-60BC-CD35-48BA-15C7727C4941}"/>
              </a:ext>
            </a:extLst>
          </p:cNvPr>
          <p:cNvSpPr txBox="1"/>
          <p:nvPr/>
        </p:nvSpPr>
        <p:spPr>
          <a:xfrm>
            <a:off x="3827430" y="282973"/>
            <a:ext cx="2268570" cy="830997"/>
          </a:xfrm>
          <a:prstGeom prst="rect">
            <a:avLst/>
          </a:prstGeom>
          <a:noFill/>
        </p:spPr>
        <p:txBody>
          <a:bodyPr wrap="none" rtlCol="0">
            <a:spAutoFit/>
          </a:bodyPr>
          <a:lstStyle/>
          <a:p>
            <a:r>
              <a:rPr lang="en-IN" sz="4800" dirty="0">
                <a:solidFill>
                  <a:srgbClr val="FF0000"/>
                </a:solidFill>
                <a:latin typeface="Times New Roman" panose="02020603050405020304" pitchFamily="18" charset="0"/>
                <a:cs typeface="Times New Roman" panose="02020603050405020304" pitchFamily="18" charset="0"/>
              </a:rPr>
              <a:t>Abstract</a:t>
            </a:r>
          </a:p>
        </p:txBody>
      </p:sp>
      <p:sp>
        <p:nvSpPr>
          <p:cNvPr id="9" name="Rectangle 5">
            <a:extLst>
              <a:ext uri="{FF2B5EF4-FFF2-40B4-BE49-F238E27FC236}">
                <a16:creationId xmlns:a16="http://schemas.microsoft.com/office/drawing/2014/main" id="{9308B30B-4F47-A4C2-FE7E-99E9D4A937C1}"/>
              </a:ext>
            </a:extLst>
          </p:cNvPr>
          <p:cNvSpPr>
            <a:spLocks noChangeArrowheads="1"/>
          </p:cNvSpPr>
          <p:nvPr/>
        </p:nvSpPr>
        <p:spPr bwMode="auto">
          <a:xfrm>
            <a:off x="340554" y="1354393"/>
            <a:ext cx="9242322" cy="4339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just" defTabSz="914400" eaLnBrk="0" fontAlgn="base" hangingPunct="0">
              <a:spcBef>
                <a:spcPct val="0"/>
              </a:spcBef>
              <a:spcAft>
                <a:spcPct val="0"/>
              </a:spcAft>
            </a:pPr>
            <a:r>
              <a:rPr lang="en-US" altLang="en-US" dirty="0">
                <a:solidFill>
                  <a:srgbClr val="002060"/>
                </a:solidFill>
                <a:latin typeface="Times New Roman" panose="02020603050405020304" pitchFamily="18" charset="0"/>
                <a:cs typeface="Times New Roman" panose="02020603050405020304" pitchFamily="18" charset="0"/>
              </a:rPr>
              <a:t>The rapid growth of the retail industry has led to the generation of a large amount of sales data through daily supermarket transactions, making it difficult to manually analyze sales patterns and predict future product demand. The main objective of this project is to develop a Supermarket Sales Prediction System that can analyze historical sales data and fore cast the demand for different products in the coming months. By understanding past sales patterns, supermarkets can make better decisions related to product stocking, inventory management, and sales planning. In this project, a web-based application is developed using the Flask Web Framework, which provides an interactive interface for managing sales, products, categories, and reports efficiently. The system allows users to record daily sales transactions and maintain product information in organized manner</a:t>
            </a:r>
            <a:r>
              <a:rPr lang="en-US" altLang="en-US" sz="2400" dirty="0">
                <a:solidFill>
                  <a:srgbClr val="002060"/>
                </a:solidFill>
                <a:latin typeface="Times New Roman" panose="02020603050405020304" pitchFamily="18" charset="0"/>
                <a:cs typeface="Times New Roman" panose="02020603050405020304" pitchFamily="18" charset="0"/>
              </a:rPr>
              <a:t>. </a:t>
            </a:r>
            <a:r>
              <a:rPr lang="en-US" altLang="en-US" dirty="0">
                <a:solidFill>
                  <a:srgbClr val="002060"/>
                </a:solidFill>
                <a:latin typeface="Times New Roman" panose="02020603050405020304" pitchFamily="18" charset="0"/>
                <a:cs typeface="Times New Roman" panose="02020603050405020304" pitchFamily="18" charset="0"/>
              </a:rPr>
              <a:t>The system includes an AI-based prediction module consisting of components such as Sales Predictor and Sale Analyzer, which analyze historical sales data and generate predictions about future product demand. By applying Predictive Analytics, the system vi can estimate the number of items that may be sold in the upcoming days or months. The application also supports CSV and Excel file uploads , allowing users to import and analyze external datasets easily.</a:t>
            </a:r>
            <a:endParaRPr kumimoji="0" lang="en-US" altLang="en-US" b="0" i="0" u="none" strike="noStrike" cap="none" normalizeH="0" baseline="0" dirty="0">
              <a:ln>
                <a:noFill/>
              </a:ln>
              <a:solidFill>
                <a:srgbClr val="002060"/>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809256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3DF15EA-F334-D2B3-969E-E22ED86319FA}"/>
              </a:ext>
            </a:extLst>
          </p:cNvPr>
          <p:cNvSpPr txBox="1"/>
          <p:nvPr/>
        </p:nvSpPr>
        <p:spPr>
          <a:xfrm>
            <a:off x="3635746" y="293677"/>
            <a:ext cx="3228769" cy="830997"/>
          </a:xfrm>
          <a:prstGeom prst="rect">
            <a:avLst/>
          </a:prstGeom>
          <a:noFill/>
        </p:spPr>
        <p:txBody>
          <a:bodyPr wrap="none" rtlCol="0">
            <a:spAutoFit/>
          </a:bodyPr>
          <a:lstStyle/>
          <a:p>
            <a:r>
              <a:rPr lang="en-IN" sz="4800" dirty="0">
                <a:solidFill>
                  <a:srgbClr val="FF0000"/>
                </a:solidFill>
                <a:latin typeface="Times New Roman" panose="02020603050405020304" pitchFamily="18" charset="0"/>
                <a:cs typeface="Times New Roman" panose="02020603050405020304" pitchFamily="18" charset="0"/>
              </a:rPr>
              <a:t>Introduction</a:t>
            </a:r>
          </a:p>
        </p:txBody>
      </p:sp>
      <p:sp>
        <p:nvSpPr>
          <p:cNvPr id="5" name="Rectangle 1">
            <a:extLst>
              <a:ext uri="{FF2B5EF4-FFF2-40B4-BE49-F238E27FC236}">
                <a16:creationId xmlns:a16="http://schemas.microsoft.com/office/drawing/2014/main" id="{49FB7A74-D0D3-4346-AEE4-5BC0756D9691}"/>
              </a:ext>
            </a:extLst>
          </p:cNvPr>
          <p:cNvSpPr>
            <a:spLocks noChangeArrowheads="1"/>
          </p:cNvSpPr>
          <p:nvPr/>
        </p:nvSpPr>
        <p:spPr bwMode="auto">
          <a:xfrm>
            <a:off x="333215" y="2274837"/>
            <a:ext cx="9523428"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r>
              <a:rPr lang="en-US" dirty="0">
                <a:latin typeface="Times New Roman" panose="02020603050405020304" pitchFamily="18" charset="0"/>
                <a:cs typeface="Times New Roman" panose="02020603050405020304" pitchFamily="18" charset="0"/>
              </a:rPr>
              <a:t>The retail industry is rapidly growing, and supermarkets generate a large amount of sales data through daily transactions. Analyzing this data manually is difficult and time-consuming. To overcome this problem, modern technologies such as Artificial Intelligence (AI) and Machine Learning (ML) are used to analyze sales patterns and predict future product demand. Supermarkets often face challenges such as overstocking or stock shortages due to inaccurate demand forecasting. Predicting product demand in advance helps store managers maintain proper inventory levels, reduce waste, and improve customer satisfaction. AI-based systems can analyze historical sales data, identify trends, and provide accurate predictions about future sales.</a:t>
            </a:r>
          </a:p>
        </p:txBody>
      </p:sp>
    </p:spTree>
    <p:extLst>
      <p:ext uri="{BB962C8B-B14F-4D97-AF65-F5344CB8AC3E}">
        <p14:creationId xmlns:p14="http://schemas.microsoft.com/office/powerpoint/2010/main" val="38388051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B2C06F9-52F5-C690-0222-DC042585DE80}"/>
              </a:ext>
            </a:extLst>
          </p:cNvPr>
          <p:cNvSpPr txBox="1"/>
          <p:nvPr/>
        </p:nvSpPr>
        <p:spPr>
          <a:xfrm>
            <a:off x="2477729" y="353961"/>
            <a:ext cx="4887877" cy="830997"/>
          </a:xfrm>
          <a:prstGeom prst="rect">
            <a:avLst/>
          </a:prstGeom>
          <a:noFill/>
        </p:spPr>
        <p:txBody>
          <a:bodyPr wrap="none" rtlCol="0">
            <a:spAutoFit/>
          </a:bodyPr>
          <a:lstStyle/>
          <a:p>
            <a:r>
              <a:rPr lang="en-IN" sz="4800" dirty="0">
                <a:solidFill>
                  <a:srgbClr val="FF0000"/>
                </a:solidFill>
                <a:latin typeface="Times New Roman" panose="02020603050405020304" pitchFamily="18" charset="0"/>
                <a:cs typeface="Times New Roman" panose="02020603050405020304" pitchFamily="18" charset="0"/>
              </a:rPr>
              <a:t>Problem Statement</a:t>
            </a:r>
          </a:p>
        </p:txBody>
      </p:sp>
      <p:sp>
        <p:nvSpPr>
          <p:cNvPr id="5" name="Rectangle 1">
            <a:extLst>
              <a:ext uri="{FF2B5EF4-FFF2-40B4-BE49-F238E27FC236}">
                <a16:creationId xmlns:a16="http://schemas.microsoft.com/office/drawing/2014/main" id="{2912720C-4F43-4DC7-33FE-C9ADFE7A41E2}"/>
              </a:ext>
            </a:extLst>
          </p:cNvPr>
          <p:cNvSpPr>
            <a:spLocks noChangeArrowheads="1"/>
          </p:cNvSpPr>
          <p:nvPr/>
        </p:nvSpPr>
        <p:spPr bwMode="auto">
          <a:xfrm>
            <a:off x="696097" y="1833909"/>
            <a:ext cx="8831360"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just" defTabSz="914400" eaLnBrk="0" fontAlgn="base" hangingPunct="0">
              <a:spcBef>
                <a:spcPct val="0"/>
              </a:spcBef>
              <a:spcAft>
                <a:spcPct val="0"/>
              </a:spcAft>
            </a:pPr>
            <a:r>
              <a:rPr lang="en-US" altLang="en-US" dirty="0">
                <a:solidFill>
                  <a:srgbClr val="002060"/>
                </a:solidFill>
                <a:latin typeface="Times New Roman" panose="02020603050405020304" pitchFamily="18" charset="0"/>
                <a:cs typeface="Times New Roman" panose="02020603050405020304" pitchFamily="18" charset="0"/>
              </a:rPr>
              <a:t>Supermarkets generate a large volume of sales data every day due to numerous customer transactions and a wide variety of products. However , analyzing this data manually to understand sales trends and predict future demand is a challenging and time-consuming task. Without proper analysis, supermarkets often face problems such as overstocking of products, shortage of essential items, poor inventory management, and financial losses . Traditional methods of estimating future sales are usually based on assumptions or past experience rather than systematic data analysis, which may lead to inaccurate predictions. Therefore, there is a need for an efficient system that can analyze historical sales data and provide reliable predictions about future product demand. The main problem addressed in this project is to develop a Supermarket Sales Prediction System that uses data analysis and machine learning techniques to study past sales data and predict the number of items likely to be sold in the coming months, and support better decision-making.</a:t>
            </a:r>
            <a:endParaRPr kumimoji="0" lang="en-US" altLang="en-US" b="0" i="0" u="none" strike="noStrike" cap="none" normalizeH="0" baseline="0" dirty="0">
              <a:ln>
                <a:noFill/>
              </a:ln>
              <a:solidFill>
                <a:srgbClr val="002060"/>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829617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8C07009-B851-F710-F760-427F0151E26A}"/>
              </a:ext>
            </a:extLst>
          </p:cNvPr>
          <p:cNvSpPr txBox="1"/>
          <p:nvPr/>
        </p:nvSpPr>
        <p:spPr>
          <a:xfrm>
            <a:off x="2467897" y="196646"/>
            <a:ext cx="4509568" cy="830997"/>
          </a:xfrm>
          <a:prstGeom prst="rect">
            <a:avLst/>
          </a:prstGeom>
          <a:noFill/>
        </p:spPr>
        <p:txBody>
          <a:bodyPr wrap="square" rtlCol="0">
            <a:spAutoFit/>
          </a:bodyPr>
          <a:lstStyle/>
          <a:p>
            <a:r>
              <a:rPr lang="en-IN" sz="4800" dirty="0">
                <a:solidFill>
                  <a:srgbClr val="FF0000"/>
                </a:solidFill>
                <a:latin typeface="Times New Roman" panose="02020603050405020304" pitchFamily="18" charset="0"/>
                <a:cs typeface="Times New Roman" panose="02020603050405020304" pitchFamily="18" charset="0"/>
              </a:rPr>
              <a:t>Literature Survey</a:t>
            </a:r>
          </a:p>
        </p:txBody>
      </p:sp>
      <p:sp>
        <p:nvSpPr>
          <p:cNvPr id="4" name="Rectangle 1">
            <a:extLst>
              <a:ext uri="{FF2B5EF4-FFF2-40B4-BE49-F238E27FC236}">
                <a16:creationId xmlns:a16="http://schemas.microsoft.com/office/drawing/2014/main" id="{7A38167D-6C90-0FA9-542B-0960C67E3952}"/>
              </a:ext>
            </a:extLst>
          </p:cNvPr>
          <p:cNvSpPr>
            <a:spLocks noChangeArrowheads="1"/>
          </p:cNvSpPr>
          <p:nvPr/>
        </p:nvSpPr>
        <p:spPr bwMode="auto">
          <a:xfrm>
            <a:off x="521111" y="3274411"/>
            <a:ext cx="904567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just" defTabSz="914400" eaLnBrk="0" fontAlgn="base" hangingPunct="0">
              <a:spcBef>
                <a:spcPct val="0"/>
              </a:spcBef>
              <a:spcAft>
                <a:spcPct val="0"/>
              </a:spcAft>
            </a:pPr>
            <a:endParaRPr kumimoji="0" lang="en-US" altLang="en-US" sz="2000" b="0" i="0" u="none" strike="noStrike" cap="none" normalizeH="0" baseline="0" dirty="0">
              <a:ln>
                <a:noFill/>
              </a:ln>
              <a:solidFill>
                <a:srgbClr val="002060"/>
              </a:solidFill>
              <a:effectLst/>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7E05BE46-F0EA-428B-0EF6-837BE05CAA0B}"/>
              </a:ext>
            </a:extLst>
          </p:cNvPr>
          <p:cNvSpPr txBox="1"/>
          <p:nvPr/>
        </p:nvSpPr>
        <p:spPr>
          <a:xfrm>
            <a:off x="746760" y="1118311"/>
            <a:ext cx="8921496" cy="4862870"/>
          </a:xfrm>
          <a:prstGeom prst="rect">
            <a:avLst/>
          </a:prstGeom>
          <a:noFill/>
        </p:spPr>
        <p:txBody>
          <a:bodyPr wrap="square">
            <a:spAutoFit/>
          </a:bodyPr>
          <a:lstStyle/>
          <a:p>
            <a:r>
              <a:rPr lang="en-IN" sz="2000" b="1" dirty="0">
                <a:latin typeface="Times New Roman" panose="02020603050405020304" pitchFamily="18" charset="0"/>
                <a:cs typeface="Times New Roman" panose="02020603050405020304" pitchFamily="18" charset="0"/>
              </a:rPr>
              <a:t>Introduction</a:t>
            </a:r>
          </a:p>
          <a:p>
            <a:endParaRPr lang="en-IN"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The retail industry generates a large amount of sales data through daily transactions. </a:t>
            </a:r>
            <a:r>
              <a:rPr lang="en-IN" dirty="0" err="1">
                <a:latin typeface="Times New Roman" panose="02020603050405020304" pitchFamily="18" charset="0"/>
                <a:cs typeface="Times New Roman" panose="02020603050405020304" pitchFamily="18" charset="0"/>
              </a:rPr>
              <a:t>Analyzing</a:t>
            </a:r>
            <a:r>
              <a:rPr lang="en-IN" dirty="0">
                <a:latin typeface="Times New Roman" panose="02020603050405020304" pitchFamily="18" charset="0"/>
                <a:cs typeface="Times New Roman" panose="02020603050405020304" pitchFamily="18" charset="0"/>
              </a:rPr>
              <a:t> this data helps businesses understand customer purchasing   </a:t>
            </a:r>
            <a:r>
              <a:rPr lang="en-IN" dirty="0" err="1">
                <a:latin typeface="Times New Roman" panose="02020603050405020304" pitchFamily="18" charset="0"/>
                <a:cs typeface="Times New Roman" panose="02020603050405020304" pitchFamily="18" charset="0"/>
              </a:rPr>
              <a:t>behavior</a:t>
            </a:r>
            <a:r>
              <a:rPr lang="en-IN" dirty="0">
                <a:latin typeface="Times New Roman" panose="02020603050405020304" pitchFamily="18" charset="0"/>
                <a:cs typeface="Times New Roman" panose="02020603050405020304" pitchFamily="18" charset="0"/>
              </a:rPr>
              <a:t> and improve decision-making. Researchers have applied various data mining, machine learning, and statistical techniques to predict future sales and demand. Sales prediction systems help supermarkets manage inventory, reduce product wastage, and improve operational efficiency. This chapter reviews previous studies and techniques used in sales forecasting and retail data analysis.</a:t>
            </a:r>
          </a:p>
          <a:p>
            <a:pPr algn="just"/>
            <a:endParaRPr lang="en-IN" dirty="0">
              <a:latin typeface="Times New Roman" panose="02020603050405020304" pitchFamily="18" charset="0"/>
              <a:cs typeface="Times New Roman" panose="02020603050405020304" pitchFamily="18" charset="0"/>
            </a:endParaRPr>
          </a:p>
          <a:p>
            <a:pPr algn="just"/>
            <a:r>
              <a:rPr lang="en-US" sz="2000" b="1" dirty="0">
                <a:latin typeface="Times New Roman" panose="02020603050405020304" pitchFamily="18" charset="0"/>
                <a:cs typeface="Times New Roman" panose="02020603050405020304" pitchFamily="18" charset="0"/>
              </a:rPr>
              <a:t>Sales Forecasting in Retail Industry</a:t>
            </a:r>
            <a:r>
              <a:rPr lang="en-US" dirty="0">
                <a:latin typeface="Times New Roman" panose="02020603050405020304" pitchFamily="18" charset="0"/>
                <a:cs typeface="Times New Roman" panose="02020603050405020304" pitchFamily="18" charset="0"/>
              </a:rPr>
              <a:t>:</a:t>
            </a:r>
          </a:p>
          <a:p>
            <a:pPr algn="just"/>
            <a:endParaRPr lang="en-IN"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Sales forecasting is widely used in retail businesses to estimate future product demand. Researchers have developed different forecasting techniques based on historical sales data. Traditional methods use statistical approaches such as moving averages and time-series analysis to estimate future sales trends. These methods analyze past data patterns to identify seasonal demand and customer purchasing trends. Sales forecasting helps supermarkets maintain optimal inventory levels and avoid problems such as stock shortages or overstocking</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719988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E87BBF0-8464-A693-6ACB-6B544E517C27}"/>
              </a:ext>
            </a:extLst>
          </p:cNvPr>
          <p:cNvSpPr txBox="1"/>
          <p:nvPr/>
        </p:nvSpPr>
        <p:spPr>
          <a:xfrm>
            <a:off x="734568" y="982176"/>
            <a:ext cx="8592312" cy="4893647"/>
          </a:xfrm>
          <a:prstGeom prst="rect">
            <a:avLst/>
          </a:prstGeom>
          <a:noFill/>
        </p:spPr>
        <p:txBody>
          <a:bodyPr wrap="square">
            <a:spAutoFit/>
          </a:bodyPr>
          <a:lstStyle/>
          <a:p>
            <a:r>
              <a:rPr lang="en-IN" sz="2000" b="1" dirty="0">
                <a:latin typeface="Times New Roman" panose="02020603050405020304" pitchFamily="18" charset="0"/>
                <a:cs typeface="Times New Roman" panose="02020603050405020304" pitchFamily="18" charset="0"/>
              </a:rPr>
              <a:t>Machine Learning for Sales Prediction:</a:t>
            </a:r>
          </a:p>
          <a:p>
            <a:endParaRPr lang="en-IN" dirty="0"/>
          </a:p>
          <a:p>
            <a:pPr algn="just"/>
            <a:r>
              <a:rPr lang="en-IN" dirty="0">
                <a:latin typeface="Times New Roman" panose="02020603050405020304" pitchFamily="18" charset="0"/>
                <a:cs typeface="Times New Roman" panose="02020603050405020304" pitchFamily="18" charset="0"/>
              </a:rPr>
              <a:t>Machine learning techniques have been widely used in sales prediction because they can learn patterns from historical data and generate accurate predictions. Algorithms such as Linear Regression, Decision Trees, and Random Forest are commonly used for forecasting product demand. These models </a:t>
            </a:r>
            <a:r>
              <a:rPr lang="en-IN" dirty="0" err="1">
                <a:latin typeface="Times New Roman" panose="02020603050405020304" pitchFamily="18" charset="0"/>
                <a:cs typeface="Times New Roman" panose="02020603050405020304" pitchFamily="18" charset="0"/>
              </a:rPr>
              <a:t>analyze</a:t>
            </a:r>
            <a:r>
              <a:rPr lang="en-IN" dirty="0">
                <a:latin typeface="Times New Roman" panose="02020603050405020304" pitchFamily="18" charset="0"/>
                <a:cs typeface="Times New Roman" panose="02020603050405020304" pitchFamily="18" charset="0"/>
              </a:rPr>
              <a:t> different features such as product category, sales quantity, and time period to identify relationships in the data. Machine learning models improve prediction accuracy by continuously learning from large.</a:t>
            </a:r>
          </a:p>
          <a:p>
            <a:pPr algn="just"/>
            <a:endParaRPr lang="en-IN" dirty="0">
              <a:latin typeface="Times New Roman" panose="02020603050405020304" pitchFamily="18" charset="0"/>
              <a:cs typeface="Times New Roman" panose="02020603050405020304" pitchFamily="18" charset="0"/>
            </a:endParaRPr>
          </a:p>
          <a:p>
            <a:pPr algn="just"/>
            <a:r>
              <a:rPr lang="en-US" sz="2000" b="1" dirty="0">
                <a:latin typeface="Times New Roman" panose="02020603050405020304" pitchFamily="18" charset="0"/>
                <a:cs typeface="Times New Roman" panose="02020603050405020304" pitchFamily="18" charset="0"/>
              </a:rPr>
              <a:t>Data Mining Techniques in Retail Analysis:</a:t>
            </a:r>
          </a:p>
          <a:p>
            <a:pPr algn="just"/>
            <a:endParaRPr lang="en-US" sz="2000" b="1"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Data mining techniques are used to extract useful information from large retail datasets. These techniques help identify frequent purchasing patterns, customer preferences, and product relationships. Methods such as association rule mining and clustering are used to group similar products and analyze purchasing behavior. By applying data mining techniques, supermarkets can understand which products are frequently purchased together and optimize their product placement and marketing</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420376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8550895-59E7-C44B-D9C9-7BD324F8F785}"/>
              </a:ext>
            </a:extLst>
          </p:cNvPr>
          <p:cNvSpPr txBox="1"/>
          <p:nvPr/>
        </p:nvSpPr>
        <p:spPr>
          <a:xfrm>
            <a:off x="551688" y="1012954"/>
            <a:ext cx="9019032" cy="4832092"/>
          </a:xfrm>
          <a:prstGeom prst="rect">
            <a:avLst/>
          </a:prstGeom>
          <a:noFill/>
        </p:spPr>
        <p:txBody>
          <a:bodyPr wrap="square">
            <a:spAutoFit/>
          </a:bodyPr>
          <a:lstStyle/>
          <a:p>
            <a:pPr algn="just"/>
            <a:r>
              <a:rPr lang="en-IN" sz="2000" b="1" dirty="0">
                <a:latin typeface="Times New Roman" panose="02020603050405020304" pitchFamily="18" charset="0"/>
                <a:cs typeface="Times New Roman" panose="02020603050405020304" pitchFamily="18" charset="0"/>
              </a:rPr>
              <a:t>Visualization and Decision Support Systems:</a:t>
            </a:r>
          </a:p>
          <a:p>
            <a:pPr algn="just"/>
            <a:endParaRPr lang="en-IN"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Data visualization plays an important role in understanding sales trends and prediction results. Visualization tools such as charts, graphs, and dashboards help managers easily interpret complex datasets. Decision support systems combine data analysis and visualization to assist managers in making better decisions related to inventory management and sales planning. These systems provide clear insights into sales performance and future demand.</a:t>
            </a:r>
          </a:p>
          <a:p>
            <a:pPr algn="just"/>
            <a:endParaRPr lang="en-IN" dirty="0">
              <a:latin typeface="Times New Roman" panose="02020603050405020304" pitchFamily="18" charset="0"/>
              <a:cs typeface="Times New Roman" panose="02020603050405020304" pitchFamily="18" charset="0"/>
            </a:endParaRPr>
          </a:p>
          <a:p>
            <a:pPr algn="just"/>
            <a:r>
              <a:rPr lang="en-US" sz="2000" b="1" dirty="0">
                <a:latin typeface="Times New Roman" panose="02020603050405020304" pitchFamily="18" charset="0"/>
                <a:cs typeface="Times New Roman" panose="02020603050405020304" pitchFamily="18" charset="0"/>
              </a:rPr>
              <a:t>AI-Based Decision Support Systems:</a:t>
            </a:r>
          </a:p>
          <a:p>
            <a:pPr algn="just"/>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Artificial Intelligence (AI) has been increasingly integrated into business management systems to support decision-making processes. AI-based modules such as Sales Predictors and Sales Analyzers can automatically process large volumes of transaction data and generate insights about future demand patterns. These systems use predictive algorithms and analytical techniques to provide recommendations for inventory management and sales planning. Studies show that AI-driven decision support systems help organizations reduce operational risks, optimize resource allocation, and improve overall business </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978298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8BEE751-D68B-4FF6-BDAC-3F24096F63DE}"/>
              </a:ext>
            </a:extLst>
          </p:cNvPr>
          <p:cNvSpPr txBox="1"/>
          <p:nvPr/>
        </p:nvSpPr>
        <p:spPr>
          <a:xfrm>
            <a:off x="1417320" y="948690"/>
            <a:ext cx="6102096" cy="5078313"/>
          </a:xfrm>
          <a:prstGeom prst="rect">
            <a:avLst/>
          </a:prstGeom>
          <a:noFill/>
        </p:spPr>
        <p:txBody>
          <a:bodyPr wrap="square">
            <a:spAutoFit/>
          </a:bodyPr>
          <a:lstStyle/>
          <a:p>
            <a:pPr algn="just">
              <a:buNone/>
            </a:pPr>
            <a:r>
              <a:rPr lang="en-US" dirty="0"/>
              <a:t>              </a:t>
            </a:r>
            <a:r>
              <a:rPr lang="en-US" dirty="0">
                <a:latin typeface="Times New Roman" panose="02020603050405020304" pitchFamily="18" charset="0"/>
                <a:cs typeface="Times New Roman" panose="02020603050405020304" pitchFamily="18" charset="0"/>
              </a:rPr>
              <a:t>The existing system in supermarkets mainly relies on </a:t>
            </a:r>
            <a:r>
              <a:rPr lang="en-US" b="1" dirty="0">
                <a:latin typeface="Times New Roman" panose="02020603050405020304" pitchFamily="18" charset="0"/>
                <a:cs typeface="Times New Roman" panose="02020603050405020304" pitchFamily="18" charset="0"/>
              </a:rPr>
              <a:t>manual methods or basic software tools</a:t>
            </a:r>
            <a:r>
              <a:rPr lang="en-US" dirty="0">
                <a:latin typeface="Times New Roman" panose="02020603050405020304" pitchFamily="18" charset="0"/>
                <a:cs typeface="Times New Roman" panose="02020603050405020304" pitchFamily="18" charset="0"/>
              </a:rPr>
              <a:t> to manage sales and inventory. Sales data is recorded through billing systems and stored in databases, but there is very limited analysis of this data. Most supermarkets depend on past experience or simple calculations to estimate product demand, which is often inaccurate.</a:t>
            </a:r>
          </a:p>
          <a:p>
            <a:pPr algn="just">
              <a:buNone/>
            </a:pPr>
            <a:r>
              <a:rPr lang="en-US" dirty="0">
                <a:latin typeface="Times New Roman" panose="02020603050405020304" pitchFamily="18" charset="0"/>
                <a:cs typeface="Times New Roman" panose="02020603050405020304" pitchFamily="18" charset="0"/>
              </a:rPr>
              <a:t>                In the current system, there is no use of advanced technologies like Artificial Intelligence or Machine Learning for predicting future sales. As a result, supermarkets frequently face problems such as </a:t>
            </a:r>
            <a:r>
              <a:rPr lang="en-US" b="1" dirty="0">
                <a:latin typeface="Times New Roman" panose="02020603050405020304" pitchFamily="18" charset="0"/>
                <a:cs typeface="Times New Roman" panose="02020603050405020304" pitchFamily="18" charset="0"/>
              </a:rPr>
              <a:t>overstocking, stock shortages, and poor inventory management</a:t>
            </a:r>
            <a:r>
              <a:rPr lang="en-US" dirty="0">
                <a:latin typeface="Times New Roman" panose="02020603050405020304" pitchFamily="18" charset="0"/>
                <a:cs typeface="Times New Roman" panose="02020603050405020304" pitchFamily="18" charset="0"/>
              </a:rPr>
              <a:t>.</a:t>
            </a:r>
          </a:p>
          <a:p>
            <a:pPr algn="just">
              <a:buNone/>
            </a:pPr>
            <a:endParaRPr lang="en-US" dirty="0">
              <a:latin typeface="Times New Roman" panose="02020603050405020304" pitchFamily="18" charset="0"/>
              <a:cs typeface="Times New Roman" panose="02020603050405020304" pitchFamily="18" charset="0"/>
            </a:endParaRPr>
          </a:p>
          <a:p>
            <a:pPr algn="just">
              <a:buNone/>
            </a:pPr>
            <a:r>
              <a:rPr lang="en-US" dirty="0">
                <a:latin typeface="Times New Roman" panose="02020603050405020304" pitchFamily="18" charset="0"/>
                <a:cs typeface="Times New Roman" panose="02020603050405020304" pitchFamily="18" charset="0"/>
              </a:rPr>
              <a:t>                The lack of proper data analysis also makes it difficult to identify sales trends and customer purchasing patterns . Additionally, generating reports and analyzing sales performance is time-consuming and requires manual effort. This reduces efficiency and may lead to incorrect business decisions</a:t>
            </a:r>
            <a:r>
              <a:rPr lang="en-US" dirty="0"/>
              <a:t>. </a:t>
            </a:r>
          </a:p>
        </p:txBody>
      </p:sp>
      <p:sp>
        <p:nvSpPr>
          <p:cNvPr id="5" name="TextBox 4">
            <a:extLst>
              <a:ext uri="{FF2B5EF4-FFF2-40B4-BE49-F238E27FC236}">
                <a16:creationId xmlns:a16="http://schemas.microsoft.com/office/drawing/2014/main" id="{F308BF0F-E26F-9793-03D7-D2942F8540BC}"/>
              </a:ext>
            </a:extLst>
          </p:cNvPr>
          <p:cNvSpPr txBox="1"/>
          <p:nvPr/>
        </p:nvSpPr>
        <p:spPr>
          <a:xfrm>
            <a:off x="2366772" y="117693"/>
            <a:ext cx="7287768" cy="830997"/>
          </a:xfrm>
          <a:prstGeom prst="rect">
            <a:avLst/>
          </a:prstGeom>
          <a:noFill/>
        </p:spPr>
        <p:txBody>
          <a:bodyPr wrap="square">
            <a:spAutoFit/>
          </a:bodyPr>
          <a:lstStyle/>
          <a:p>
            <a:r>
              <a:rPr lang="en-IN" sz="4800" dirty="0">
                <a:solidFill>
                  <a:srgbClr val="FF0000"/>
                </a:solidFill>
                <a:latin typeface="Times New Roman" panose="02020603050405020304" pitchFamily="18" charset="0"/>
                <a:cs typeface="Times New Roman" panose="02020603050405020304" pitchFamily="18" charset="0"/>
              </a:rPr>
              <a:t>Existing System</a:t>
            </a:r>
          </a:p>
        </p:txBody>
      </p:sp>
    </p:spTree>
    <p:extLst>
      <p:ext uri="{BB962C8B-B14F-4D97-AF65-F5344CB8AC3E}">
        <p14:creationId xmlns:p14="http://schemas.microsoft.com/office/powerpoint/2010/main" val="22016461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795EF18-F6EC-C888-8D77-8D2A8331A478}"/>
              </a:ext>
            </a:extLst>
          </p:cNvPr>
          <p:cNvSpPr txBox="1"/>
          <p:nvPr/>
        </p:nvSpPr>
        <p:spPr>
          <a:xfrm>
            <a:off x="2861122" y="1048311"/>
            <a:ext cx="4442242" cy="830997"/>
          </a:xfrm>
          <a:prstGeom prst="rect">
            <a:avLst/>
          </a:prstGeom>
          <a:noFill/>
        </p:spPr>
        <p:txBody>
          <a:bodyPr wrap="none" rtlCol="0">
            <a:spAutoFit/>
          </a:bodyPr>
          <a:lstStyle/>
          <a:p>
            <a:r>
              <a:rPr lang="en-IN" sz="4800" dirty="0">
                <a:solidFill>
                  <a:srgbClr val="FF0000"/>
                </a:solidFill>
                <a:latin typeface="Times New Roman" panose="02020603050405020304" pitchFamily="18" charset="0"/>
                <a:cs typeface="Times New Roman" panose="02020603050405020304" pitchFamily="18" charset="0"/>
              </a:rPr>
              <a:t>Proposed System</a:t>
            </a:r>
          </a:p>
        </p:txBody>
      </p:sp>
      <p:sp>
        <p:nvSpPr>
          <p:cNvPr id="3" name="TextBox 2">
            <a:extLst>
              <a:ext uri="{FF2B5EF4-FFF2-40B4-BE49-F238E27FC236}">
                <a16:creationId xmlns:a16="http://schemas.microsoft.com/office/drawing/2014/main" id="{CBF7BF93-D7FA-933C-966B-521639E01449}"/>
              </a:ext>
            </a:extLst>
          </p:cNvPr>
          <p:cNvSpPr txBox="1"/>
          <p:nvPr/>
        </p:nvSpPr>
        <p:spPr>
          <a:xfrm>
            <a:off x="249759" y="808786"/>
            <a:ext cx="9286312" cy="4278094"/>
          </a:xfrm>
          <a:prstGeom prst="rect">
            <a:avLst/>
          </a:prstGeom>
          <a:noFill/>
        </p:spPr>
        <p:txBody>
          <a:bodyPr wrap="square" rtlCol="0">
            <a:spAutoFit/>
          </a:bodyPr>
          <a:lstStyle/>
          <a:p>
            <a:pPr algn="just"/>
            <a:endParaRPr lang="en-US" sz="2000" dirty="0">
              <a:solidFill>
                <a:srgbClr val="002060"/>
              </a:solidFill>
              <a:latin typeface="Times New Roman" panose="02020603050405020304" pitchFamily="18" charset="0"/>
              <a:cs typeface="Times New Roman" panose="02020603050405020304" pitchFamily="18" charset="0"/>
            </a:endParaRPr>
          </a:p>
          <a:p>
            <a:pPr algn="just"/>
            <a:r>
              <a:rPr lang="en-US" dirty="0">
                <a:solidFill>
                  <a:srgbClr val="002060"/>
                </a:solidFill>
                <a:latin typeface="Times New Roman" panose="02020603050405020304" pitchFamily="18" charset="0"/>
                <a:cs typeface="Times New Roman" panose="02020603050405020304" pitchFamily="18" charset="0"/>
              </a:rPr>
              <a:t> </a:t>
            </a:r>
          </a:p>
          <a:p>
            <a:pPr algn="just"/>
            <a:endParaRPr lang="en-US" dirty="0">
              <a:solidFill>
                <a:srgbClr val="002060"/>
              </a:solidFill>
              <a:latin typeface="Times New Roman" panose="02020603050405020304" pitchFamily="18" charset="0"/>
              <a:cs typeface="Times New Roman" panose="02020603050405020304" pitchFamily="18" charset="0"/>
            </a:endParaRPr>
          </a:p>
          <a:p>
            <a:pPr algn="just"/>
            <a:endParaRPr lang="en-US" dirty="0">
              <a:solidFill>
                <a:srgbClr val="002060"/>
              </a:solidFill>
              <a:latin typeface="Times New Roman" panose="02020603050405020304" pitchFamily="18" charset="0"/>
              <a:cs typeface="Times New Roman" panose="02020603050405020304" pitchFamily="18" charset="0"/>
            </a:endParaRPr>
          </a:p>
          <a:p>
            <a:pPr algn="just"/>
            <a:endParaRPr lang="en-US" dirty="0">
              <a:solidFill>
                <a:srgbClr val="002060"/>
              </a:solidFill>
              <a:latin typeface="Times New Roman" panose="02020603050405020304" pitchFamily="18" charset="0"/>
              <a:cs typeface="Times New Roman" panose="02020603050405020304" pitchFamily="18" charset="0"/>
            </a:endParaRPr>
          </a:p>
          <a:p>
            <a:pPr algn="just"/>
            <a:endParaRPr lang="en-US" dirty="0">
              <a:solidFill>
                <a:srgbClr val="002060"/>
              </a:solidFill>
              <a:latin typeface="Times New Roman" panose="02020603050405020304" pitchFamily="18" charset="0"/>
              <a:cs typeface="Times New Roman" panose="02020603050405020304" pitchFamily="18" charset="0"/>
            </a:endParaRPr>
          </a:p>
          <a:p>
            <a:pPr algn="just"/>
            <a:r>
              <a:rPr lang="en-US" dirty="0">
                <a:solidFill>
                  <a:srgbClr val="002060"/>
                </a:solidFill>
                <a:latin typeface="Times New Roman" panose="02020603050405020304" pitchFamily="18" charset="0"/>
                <a:cs typeface="Times New Roman" panose="02020603050405020304" pitchFamily="18" charset="0"/>
              </a:rPr>
              <a:t>The proposed system is a Sales Management and Supermarket Sales Prediction System developed using a web-based architecture. The system is designed to manage supermarket sales data and analyze it to predict future product demand. It integrates web technologies, database management, and machine learning techniques to provide an intelligent platform for sales monitoring and forecasting. The system allows administrators to manage products, categories, and sales transactions93.2 System Architecture 10through an interactive dashboard. In addition, the system includes an AI prediction module that analyzes historical sales data and generates predictions for future sales trends. This helps supermarket managers improve inventory planning and make better business decisions.</a:t>
            </a:r>
            <a:endParaRPr lang="en-IN"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650376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A0A720C-5803-385D-BD67-7F5B9BCCDAE7}"/>
              </a:ext>
            </a:extLst>
          </p:cNvPr>
          <p:cNvSpPr txBox="1"/>
          <p:nvPr/>
        </p:nvSpPr>
        <p:spPr>
          <a:xfrm>
            <a:off x="2478946" y="176060"/>
            <a:ext cx="6098796" cy="830997"/>
          </a:xfrm>
          <a:prstGeom prst="rect">
            <a:avLst/>
          </a:prstGeom>
          <a:noFill/>
        </p:spPr>
        <p:txBody>
          <a:bodyPr wrap="square">
            <a:spAutoFit/>
          </a:bodyPr>
          <a:lstStyle/>
          <a:p>
            <a:r>
              <a:rPr lang="en-IN" sz="4800" dirty="0">
                <a:solidFill>
                  <a:srgbClr val="FF0000"/>
                </a:solidFill>
                <a:latin typeface="Times New Roman" panose="02020603050405020304" pitchFamily="18" charset="0"/>
                <a:cs typeface="Times New Roman" panose="02020603050405020304" pitchFamily="18" charset="0"/>
              </a:rPr>
              <a:t>System</a:t>
            </a:r>
            <a:r>
              <a:rPr lang="en-IN" sz="4000" dirty="0">
                <a:solidFill>
                  <a:srgbClr val="FF0000"/>
                </a:solidFill>
                <a:latin typeface="Times New Roman" panose="02020603050405020304" pitchFamily="18" charset="0"/>
                <a:cs typeface="Times New Roman" panose="02020603050405020304" pitchFamily="18" charset="0"/>
              </a:rPr>
              <a:t> </a:t>
            </a:r>
            <a:r>
              <a:rPr lang="en-IN" sz="4800" dirty="0">
                <a:solidFill>
                  <a:srgbClr val="FF0000"/>
                </a:solidFill>
                <a:latin typeface="Times New Roman" panose="02020603050405020304" pitchFamily="18" charset="0"/>
                <a:cs typeface="Times New Roman" panose="02020603050405020304" pitchFamily="18" charset="0"/>
              </a:rPr>
              <a:t>Architecture</a:t>
            </a:r>
          </a:p>
        </p:txBody>
      </p:sp>
      <p:sp>
        <p:nvSpPr>
          <p:cNvPr id="7" name="AutoShape 8" descr="Machine learning workflow for Big Mart analysis">
            <a:extLst>
              <a:ext uri="{FF2B5EF4-FFF2-40B4-BE49-F238E27FC236}">
                <a16:creationId xmlns:a16="http://schemas.microsoft.com/office/drawing/2014/main" id="{64210DF9-B23E-C028-0552-CCBC516EE40A}"/>
              </a:ext>
            </a:extLst>
          </p:cNvPr>
          <p:cNvSpPr>
            <a:spLocks noChangeAspect="1" noChangeArrowheads="1"/>
          </p:cNvSpPr>
          <p:nvPr/>
        </p:nvSpPr>
        <p:spPr bwMode="auto">
          <a:xfrm>
            <a:off x="5943600" y="3276600"/>
            <a:ext cx="152400" cy="1524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9" name="Picture 8">
            <a:extLst>
              <a:ext uri="{FF2B5EF4-FFF2-40B4-BE49-F238E27FC236}">
                <a16:creationId xmlns:a16="http://schemas.microsoft.com/office/drawing/2014/main" id="{6E7DA84F-842D-5B90-6555-DA460823D6A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95600" y="1007057"/>
            <a:ext cx="4572000" cy="3938016"/>
          </a:xfrm>
          <a:prstGeom prst="rect">
            <a:avLst/>
          </a:prstGeom>
        </p:spPr>
      </p:pic>
      <p:sp>
        <p:nvSpPr>
          <p:cNvPr id="3" name="TextBox 2">
            <a:extLst>
              <a:ext uri="{FF2B5EF4-FFF2-40B4-BE49-F238E27FC236}">
                <a16:creationId xmlns:a16="http://schemas.microsoft.com/office/drawing/2014/main" id="{9C99115F-ED5D-D7F7-9197-D884D8A94C15}"/>
              </a:ext>
            </a:extLst>
          </p:cNvPr>
          <p:cNvSpPr txBox="1"/>
          <p:nvPr/>
        </p:nvSpPr>
        <p:spPr>
          <a:xfrm>
            <a:off x="585216" y="4272677"/>
            <a:ext cx="9562372" cy="2585323"/>
          </a:xfrm>
          <a:prstGeom prst="rect">
            <a:avLst/>
          </a:prstGeom>
          <a:noFill/>
        </p:spPr>
        <p:txBody>
          <a:bodyPr wrap="square">
            <a:spAutoFit/>
          </a:bodyPr>
          <a:lstStyle/>
          <a:p>
            <a:pPr algn="just"/>
            <a:r>
              <a:rPr lang="en-IN" dirty="0">
                <a:latin typeface="Times New Roman" panose="02020603050405020304" pitchFamily="18" charset="0"/>
                <a:cs typeface="Times New Roman" panose="02020603050405020304" pitchFamily="18" charset="0"/>
              </a:rPr>
              <a:t>The system follows a multi-layer architecture that includes the Presentation Layer, Application Layer, Business Logic Layer, AI Prediction Layer, and Database Layer. The Presentation Layer consists of web pages such as dashboard, products page, categories page, and reports page where users interact with the system. The Application Layer, developed using the Flask framework, handles user requests and routes them to appropriate modules. The Business Logic Layer processes sales management functions such as product management, category management, and report generation. The AI Prediction Layer includes modules like Sales Predictor and Sale Analyzer that </a:t>
            </a:r>
            <a:r>
              <a:rPr lang="en-IN" dirty="0" err="1">
                <a:latin typeface="Times New Roman" panose="02020603050405020304" pitchFamily="18" charset="0"/>
                <a:cs typeface="Times New Roman" panose="02020603050405020304" pitchFamily="18" charset="0"/>
              </a:rPr>
              <a:t>analyzes</a:t>
            </a:r>
            <a:r>
              <a:rPr lang="en-IN" dirty="0">
                <a:latin typeface="Times New Roman" panose="02020603050405020304" pitchFamily="18" charset="0"/>
                <a:cs typeface="Times New Roman" panose="02020603050405020304" pitchFamily="18" charset="0"/>
              </a:rPr>
              <a:t> historical sales data and forecast future sales. Finally, the Database Layer stores all data related to products, categories, and sales transactions using Tiny DB.</a:t>
            </a:r>
          </a:p>
        </p:txBody>
      </p:sp>
    </p:spTree>
    <p:extLst>
      <p:ext uri="{BB962C8B-B14F-4D97-AF65-F5344CB8AC3E}">
        <p14:creationId xmlns:p14="http://schemas.microsoft.com/office/powerpoint/2010/main" val="39747980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15C1D20-7ACC-46B4-62A1-12B27874C1C9}"/>
              </a:ext>
            </a:extLst>
          </p:cNvPr>
          <p:cNvSpPr txBox="1"/>
          <p:nvPr/>
        </p:nvSpPr>
        <p:spPr>
          <a:xfrm>
            <a:off x="3883742" y="16237"/>
            <a:ext cx="2972289" cy="830997"/>
          </a:xfrm>
          <a:prstGeom prst="rect">
            <a:avLst/>
          </a:prstGeom>
          <a:noFill/>
        </p:spPr>
        <p:txBody>
          <a:bodyPr wrap="none" rtlCol="0">
            <a:spAutoFit/>
          </a:bodyPr>
          <a:lstStyle/>
          <a:p>
            <a:r>
              <a:rPr lang="en-IN" sz="4800" dirty="0">
                <a:solidFill>
                  <a:srgbClr val="FF0000"/>
                </a:solidFill>
                <a:latin typeface="Times New Roman" panose="02020603050405020304" pitchFamily="18" charset="0"/>
                <a:cs typeface="Times New Roman" panose="02020603050405020304" pitchFamily="18" charset="0"/>
              </a:rPr>
              <a:t>Flow Chart</a:t>
            </a:r>
          </a:p>
        </p:txBody>
      </p:sp>
      <p:pic>
        <p:nvPicPr>
          <p:cNvPr id="5" name="Picture 4">
            <a:extLst>
              <a:ext uri="{FF2B5EF4-FFF2-40B4-BE49-F238E27FC236}">
                <a16:creationId xmlns:a16="http://schemas.microsoft.com/office/drawing/2014/main" id="{0A12126A-C090-24BB-ADF2-050281FBDED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89760" y="847234"/>
            <a:ext cx="6762302" cy="5797296"/>
          </a:xfrm>
          <a:prstGeom prst="rect">
            <a:avLst/>
          </a:prstGeom>
        </p:spPr>
      </p:pic>
    </p:spTree>
    <p:extLst>
      <p:ext uri="{BB962C8B-B14F-4D97-AF65-F5344CB8AC3E}">
        <p14:creationId xmlns:p14="http://schemas.microsoft.com/office/powerpoint/2010/main" val="41371604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F1D0683-42BE-4239-2437-5DC1929EF591}"/>
              </a:ext>
            </a:extLst>
          </p:cNvPr>
          <p:cNvSpPr txBox="1"/>
          <p:nvPr/>
        </p:nvSpPr>
        <p:spPr>
          <a:xfrm>
            <a:off x="3028335" y="137652"/>
            <a:ext cx="4204997" cy="923330"/>
          </a:xfrm>
          <a:prstGeom prst="rect">
            <a:avLst/>
          </a:prstGeom>
          <a:noFill/>
        </p:spPr>
        <p:txBody>
          <a:bodyPr wrap="none" rtlCol="0">
            <a:spAutoFit/>
          </a:bodyPr>
          <a:lstStyle/>
          <a:p>
            <a:r>
              <a:rPr lang="en-IN" sz="5400" dirty="0">
                <a:solidFill>
                  <a:srgbClr val="FF0000"/>
                </a:solidFill>
                <a:latin typeface="Times New Roman" panose="02020603050405020304" pitchFamily="18" charset="0"/>
                <a:cs typeface="Times New Roman" panose="02020603050405020304" pitchFamily="18" charset="0"/>
              </a:rPr>
              <a:t>Modules Used</a:t>
            </a:r>
          </a:p>
        </p:txBody>
      </p:sp>
      <p:sp>
        <p:nvSpPr>
          <p:cNvPr id="4" name="Rectangle 1">
            <a:extLst>
              <a:ext uri="{FF2B5EF4-FFF2-40B4-BE49-F238E27FC236}">
                <a16:creationId xmlns:a16="http://schemas.microsoft.com/office/drawing/2014/main" id="{737BB053-8390-E2A7-31CE-D5E2141CDE77}"/>
              </a:ext>
            </a:extLst>
          </p:cNvPr>
          <p:cNvSpPr>
            <a:spLocks noChangeArrowheads="1"/>
          </p:cNvSpPr>
          <p:nvPr/>
        </p:nvSpPr>
        <p:spPr bwMode="auto">
          <a:xfrm>
            <a:off x="163902" y="1241925"/>
            <a:ext cx="9311147" cy="49859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1" algn="just" defTabSz="914400" eaLnBrk="0" fontAlgn="base" hangingPunct="0">
              <a:spcBef>
                <a:spcPct val="0"/>
              </a:spcBef>
              <a:spcAft>
                <a:spcPct val="0"/>
              </a:spcAft>
            </a:pPr>
            <a:endParaRPr lang="en-US" altLang="en-US" sz="1400" dirty="0">
              <a:solidFill>
                <a:srgbClr val="002060"/>
              </a:solidFill>
              <a:latin typeface="Times New Roman" panose="02020603050405020304" pitchFamily="18" charset="0"/>
              <a:cs typeface="Times New Roman" panose="02020603050405020304" pitchFamily="18" charset="0"/>
            </a:endParaRPr>
          </a:p>
          <a:p>
            <a:pPr algn="just"/>
            <a:r>
              <a:rPr lang="en-US" sz="1600" b="1" dirty="0">
                <a:latin typeface="Times New Roman" panose="02020603050405020304" pitchFamily="18" charset="0"/>
                <a:cs typeface="Times New Roman" panose="02020603050405020304" pitchFamily="18" charset="0"/>
              </a:rPr>
              <a:t>1. Admin Login Module</a:t>
            </a:r>
          </a:p>
          <a:p>
            <a:pPr algn="just"/>
            <a:r>
              <a:rPr lang="en-US" sz="1600" dirty="0">
                <a:latin typeface="Times New Roman" panose="02020603050405020304" pitchFamily="18" charset="0"/>
                <a:cs typeface="Times New Roman" panose="02020603050405020304" pitchFamily="18" charset="0"/>
              </a:rPr>
              <a:t>This module allows the administrator to securely log into the system using a username and password. After successful authentication, the admin can access all system functionalities such as product management, sales data entry, and report generation.</a:t>
            </a:r>
          </a:p>
          <a:p>
            <a:pPr algn="just"/>
            <a:r>
              <a:rPr lang="en-US" sz="1600" b="1" dirty="0">
                <a:latin typeface="Times New Roman" panose="02020603050405020304" pitchFamily="18" charset="0"/>
                <a:cs typeface="Times New Roman" panose="02020603050405020304" pitchFamily="18" charset="0"/>
              </a:rPr>
              <a:t>2. Product Management Module</a:t>
            </a:r>
          </a:p>
          <a:p>
            <a:pPr algn="just"/>
            <a:r>
              <a:rPr lang="en-US" sz="1600" dirty="0">
                <a:latin typeface="Times New Roman" panose="02020603050405020304" pitchFamily="18" charset="0"/>
                <a:cs typeface="Times New Roman" panose="02020603050405020304" pitchFamily="18" charset="0"/>
              </a:rPr>
              <a:t>In this module, the admin can add, update, delete, and view product details. It helps maintain accurate product information such as product name, category, price, and stock availability.</a:t>
            </a:r>
          </a:p>
          <a:p>
            <a:pPr algn="just"/>
            <a:r>
              <a:rPr lang="en-US" sz="1600" b="1" dirty="0">
                <a:latin typeface="Times New Roman" panose="02020603050405020304" pitchFamily="18" charset="0"/>
                <a:cs typeface="Times New Roman" panose="02020603050405020304" pitchFamily="18" charset="0"/>
              </a:rPr>
              <a:t>3. Category Management Module</a:t>
            </a:r>
          </a:p>
          <a:p>
            <a:pPr algn="just"/>
            <a:r>
              <a:rPr lang="en-US" sz="1600" dirty="0">
                <a:latin typeface="Times New Roman" panose="02020603050405020304" pitchFamily="18" charset="0"/>
                <a:cs typeface="Times New Roman" panose="02020603050405020304" pitchFamily="18" charset="0"/>
              </a:rPr>
              <a:t>This module allows the admin to create and manage different product categories. Organizing products into categories helps in better management and analysis of sales data.</a:t>
            </a:r>
          </a:p>
          <a:p>
            <a:pPr algn="just"/>
            <a:r>
              <a:rPr lang="en-US" sz="1600" b="1" dirty="0">
                <a:latin typeface="Times New Roman" panose="02020603050405020304" pitchFamily="18" charset="0"/>
                <a:cs typeface="Times New Roman" panose="02020603050405020304" pitchFamily="18" charset="0"/>
              </a:rPr>
              <a:t>4. Sales Data Management Module</a:t>
            </a:r>
          </a:p>
          <a:p>
            <a:pPr algn="just"/>
            <a:r>
              <a:rPr lang="en-US" sz="1600" dirty="0">
                <a:latin typeface="Times New Roman" panose="02020603050405020304" pitchFamily="18" charset="0"/>
                <a:cs typeface="Times New Roman" panose="02020603050405020304" pitchFamily="18" charset="0"/>
              </a:rPr>
              <a:t>This module is responsible for storing and managing daily sales transactions. The system records product sales information which is later used for analysis and prediction.</a:t>
            </a:r>
          </a:p>
          <a:p>
            <a:pPr algn="just"/>
            <a:r>
              <a:rPr lang="en-US" sz="1600" b="1" dirty="0">
                <a:latin typeface="Times New Roman" panose="02020603050405020304" pitchFamily="18" charset="0"/>
                <a:cs typeface="Times New Roman" panose="02020603050405020304" pitchFamily="18" charset="0"/>
              </a:rPr>
              <a:t>5. Reports and Dashboard Module</a:t>
            </a:r>
          </a:p>
          <a:p>
            <a:pPr algn="just"/>
            <a:r>
              <a:rPr lang="en-US" sz="1600" dirty="0">
                <a:latin typeface="Times New Roman" panose="02020603050405020304" pitchFamily="18" charset="0"/>
                <a:cs typeface="Times New Roman" panose="02020603050405020304" pitchFamily="18" charset="0"/>
              </a:rPr>
              <a:t>The system generates sales reports and displays them through dashboards. These reports help the admin understand sales performance, product demand, and sales trends.</a:t>
            </a:r>
          </a:p>
          <a:p>
            <a:pPr algn="just"/>
            <a:r>
              <a:rPr lang="en-US" sz="1600" b="1" dirty="0">
                <a:latin typeface="Times New Roman" panose="02020603050405020304" pitchFamily="18" charset="0"/>
                <a:cs typeface="Times New Roman" panose="02020603050405020304" pitchFamily="18" charset="0"/>
              </a:rPr>
              <a:t>6. AI Prediction Module</a:t>
            </a:r>
          </a:p>
          <a:p>
            <a:pPr algn="just"/>
            <a:r>
              <a:rPr lang="en-US" sz="1600" dirty="0">
                <a:latin typeface="Times New Roman" panose="02020603050405020304" pitchFamily="18" charset="0"/>
                <a:cs typeface="Times New Roman" panose="02020603050405020304" pitchFamily="18" charset="0"/>
              </a:rPr>
              <a:t>This is the core module of the system. It analyzes historical sales data using Artificial Intelligence or Machine Learning algorithms to predict future product demand and sales trends.</a:t>
            </a:r>
          </a:p>
        </p:txBody>
      </p:sp>
    </p:spTree>
    <p:extLst>
      <p:ext uri="{BB962C8B-B14F-4D97-AF65-F5344CB8AC3E}">
        <p14:creationId xmlns:p14="http://schemas.microsoft.com/office/powerpoint/2010/main" val="14613373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717ABEF-F211-6DB1-E761-A8513580B191}"/>
              </a:ext>
            </a:extLst>
          </p:cNvPr>
          <p:cNvSpPr txBox="1"/>
          <p:nvPr/>
        </p:nvSpPr>
        <p:spPr>
          <a:xfrm>
            <a:off x="3140732" y="734323"/>
            <a:ext cx="3645960" cy="830997"/>
          </a:xfrm>
          <a:prstGeom prst="rect">
            <a:avLst/>
          </a:prstGeom>
          <a:noFill/>
        </p:spPr>
        <p:txBody>
          <a:bodyPr wrap="square" rtlCol="0">
            <a:spAutoFit/>
          </a:bodyPr>
          <a:lstStyle/>
          <a:p>
            <a:r>
              <a:rPr lang="en-IN" sz="4800" dirty="0">
                <a:solidFill>
                  <a:srgbClr val="FF0000"/>
                </a:solidFill>
                <a:latin typeface="Times New Roman" panose="02020603050405020304" pitchFamily="18" charset="0"/>
                <a:cs typeface="Times New Roman" panose="02020603050405020304" pitchFamily="18" charset="0"/>
              </a:rPr>
              <a:t>Methodology</a:t>
            </a:r>
          </a:p>
        </p:txBody>
      </p:sp>
      <p:sp>
        <p:nvSpPr>
          <p:cNvPr id="3" name="TextBox 2">
            <a:extLst>
              <a:ext uri="{FF2B5EF4-FFF2-40B4-BE49-F238E27FC236}">
                <a16:creationId xmlns:a16="http://schemas.microsoft.com/office/drawing/2014/main" id="{AC1CC944-2C5E-F696-052D-8429224D6953}"/>
              </a:ext>
            </a:extLst>
          </p:cNvPr>
          <p:cNvSpPr txBox="1"/>
          <p:nvPr/>
        </p:nvSpPr>
        <p:spPr>
          <a:xfrm>
            <a:off x="593274" y="1845582"/>
            <a:ext cx="8740877" cy="3447098"/>
          </a:xfrm>
          <a:prstGeom prst="rect">
            <a:avLst/>
          </a:prstGeom>
          <a:noFill/>
        </p:spPr>
        <p:txBody>
          <a:bodyPr wrap="square" rtlCol="0">
            <a:spAutoFit/>
          </a:bodyPr>
          <a:lstStyle/>
          <a:p>
            <a:endParaRPr lang="en-US" sz="2000" dirty="0">
              <a:solidFill>
                <a:srgbClr val="002060"/>
              </a:solidFill>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The methodology of the </a:t>
            </a:r>
            <a:r>
              <a:rPr lang="en-US" b="1" dirty="0">
                <a:latin typeface="Times New Roman" panose="02020603050405020304" pitchFamily="18" charset="0"/>
                <a:cs typeface="Times New Roman" panose="02020603050405020304" pitchFamily="18" charset="0"/>
              </a:rPr>
              <a:t>AI Based Product Demand and Sales Trend Analysis for Super Market</a:t>
            </a:r>
            <a:r>
              <a:rPr lang="en-US" dirty="0">
                <a:latin typeface="Times New Roman" panose="02020603050405020304" pitchFamily="18" charset="0"/>
                <a:cs typeface="Times New Roman" panose="02020603050405020304" pitchFamily="18" charset="0"/>
              </a:rPr>
              <a:t> project involves several steps to analyze sales data and predict future product demand. First, historical supermarket sales data is collected from the database. The collected data is then preprocessed by removing missing values, duplicates, and formatting the data properly. Important features such as product category, sales quantity, price, and transaction date are selected for analysis. The dataset is divided into training and testing data to build and evaluate the machine learning model. The training data is used to train the AI model to identify patterns and trends in sales data. After training, the model predicts future product demand based on historical sales patterns. Finally, the predicted results are displayed through reports or dashboards, helping supermarket managers make better decisions for inventory management and sales planning.</a:t>
            </a:r>
            <a:endParaRPr lang="en-US"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719643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A97F90F-83A5-9F39-2D79-3C4FF448A143}"/>
              </a:ext>
            </a:extLst>
          </p:cNvPr>
          <p:cNvSpPr txBox="1"/>
          <p:nvPr/>
        </p:nvSpPr>
        <p:spPr>
          <a:xfrm>
            <a:off x="822792" y="1839500"/>
            <a:ext cx="8435130" cy="3139321"/>
          </a:xfrm>
          <a:prstGeom prst="rect">
            <a:avLst/>
          </a:prstGeom>
          <a:noFill/>
        </p:spPr>
        <p:txBody>
          <a:bodyPr wrap="square">
            <a:spAutoFit/>
          </a:bodyPr>
          <a:lstStyle/>
          <a:p>
            <a:pPr lvl="0" algn="just" defTabSz="914400" eaLnBrk="0" fontAlgn="base" hangingPunct="0">
              <a:spcBef>
                <a:spcPct val="0"/>
              </a:spcBef>
              <a:spcAft>
                <a:spcPct val="0"/>
              </a:spcAft>
            </a:pPr>
            <a:r>
              <a:rPr lang="en-US" dirty="0">
                <a:latin typeface="Times New Roman" panose="02020603050405020304" pitchFamily="18" charset="0"/>
                <a:cs typeface="Times New Roman" panose="02020603050405020304" pitchFamily="18" charset="0"/>
              </a:rPr>
              <a:t>The </a:t>
            </a:r>
            <a:r>
              <a:rPr lang="en-US" b="1" dirty="0">
                <a:latin typeface="Times New Roman" panose="02020603050405020304" pitchFamily="18" charset="0"/>
                <a:cs typeface="Times New Roman" panose="02020603050405020304" pitchFamily="18" charset="0"/>
              </a:rPr>
              <a:t>AI Based Product Demand and Sales Trend Analysis for Super Market</a:t>
            </a:r>
            <a:r>
              <a:rPr lang="en-US" dirty="0">
                <a:latin typeface="Times New Roman" panose="02020603050405020304" pitchFamily="18" charset="0"/>
                <a:cs typeface="Times New Roman" panose="02020603050405020304" pitchFamily="18" charset="0"/>
              </a:rPr>
              <a:t> system uses machine learning algorithms to analyze historical sales data and predict future product demand. The main algorithm used in this project is </a:t>
            </a:r>
            <a:r>
              <a:rPr lang="en-US" b="1" dirty="0">
                <a:latin typeface="Times New Roman" panose="02020603050405020304" pitchFamily="18" charset="0"/>
                <a:cs typeface="Times New Roman" panose="02020603050405020304" pitchFamily="18" charset="0"/>
              </a:rPr>
              <a:t>XG Boost (Extreme Gradient Boosting)</a:t>
            </a:r>
            <a:r>
              <a:rPr lang="en-US" dirty="0">
                <a:latin typeface="Times New Roman" panose="02020603050405020304" pitchFamily="18" charset="0"/>
                <a:cs typeface="Times New Roman" panose="02020603050405020304" pitchFamily="18" charset="0"/>
              </a:rPr>
              <a:t>, which is a powerful machine learning technique for prediction and regression problems. XG Boost works by combining multiple decision trees to improve prediction accuracy and reduce errors. It analyzes patterns in past sales data such as product demand, seasonal trends, and customer purchasing behavior to generate accurate sales forecasts. In addition to XG Boost, algorithms like </a:t>
            </a:r>
            <a:r>
              <a:rPr lang="en-US" b="1" dirty="0">
                <a:latin typeface="Times New Roman" panose="02020603050405020304" pitchFamily="18" charset="0"/>
                <a:cs typeface="Times New Roman" panose="02020603050405020304" pitchFamily="18" charset="0"/>
              </a:rPr>
              <a:t>Decision Tree, K-Nearest Neighbors (KNN), and Generalized Linear Model (GLM)</a:t>
            </a:r>
            <a:r>
              <a:rPr lang="en-US" dirty="0">
                <a:latin typeface="Times New Roman" panose="02020603050405020304" pitchFamily="18" charset="0"/>
                <a:cs typeface="Times New Roman" panose="02020603050405020304" pitchFamily="18" charset="0"/>
              </a:rPr>
              <a:t> can also be used to compare performance and improve prediction results. These algorithms help the system learn from historical data and provide reliable predictions for future sales trends.</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850CE7EF-91E9-F193-4D46-9AA009DEC1B2}"/>
              </a:ext>
            </a:extLst>
          </p:cNvPr>
          <p:cNvSpPr txBox="1"/>
          <p:nvPr/>
        </p:nvSpPr>
        <p:spPr>
          <a:xfrm>
            <a:off x="3426119" y="838411"/>
            <a:ext cx="6098796" cy="769441"/>
          </a:xfrm>
          <a:prstGeom prst="rect">
            <a:avLst/>
          </a:prstGeom>
          <a:noFill/>
        </p:spPr>
        <p:txBody>
          <a:bodyPr wrap="square">
            <a:spAutoFit/>
          </a:bodyPr>
          <a:lstStyle/>
          <a:p>
            <a:r>
              <a:rPr lang="en-IN" sz="4400" dirty="0">
                <a:solidFill>
                  <a:srgbClr val="FF0000"/>
                </a:solidFill>
                <a:latin typeface="Times New Roman" panose="02020603050405020304" pitchFamily="18" charset="0"/>
                <a:cs typeface="Times New Roman" panose="02020603050405020304" pitchFamily="18" charset="0"/>
              </a:rPr>
              <a:t>Algorithm</a:t>
            </a:r>
          </a:p>
        </p:txBody>
      </p:sp>
    </p:spTree>
    <p:extLst>
      <p:ext uri="{BB962C8B-B14F-4D97-AF65-F5344CB8AC3E}">
        <p14:creationId xmlns:p14="http://schemas.microsoft.com/office/powerpoint/2010/main" val="25615675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BC012EA-902F-0B78-9863-BA0793B17CA2}"/>
              </a:ext>
            </a:extLst>
          </p:cNvPr>
          <p:cNvSpPr txBox="1"/>
          <p:nvPr/>
        </p:nvSpPr>
        <p:spPr>
          <a:xfrm>
            <a:off x="4060272" y="-218114"/>
            <a:ext cx="3154260" cy="830997"/>
          </a:xfrm>
          <a:prstGeom prst="rect">
            <a:avLst/>
          </a:prstGeom>
          <a:noFill/>
        </p:spPr>
        <p:txBody>
          <a:bodyPr wrap="square" rtlCol="0">
            <a:spAutoFit/>
          </a:bodyPr>
          <a:lstStyle/>
          <a:p>
            <a:r>
              <a:rPr lang="en-US" sz="4800" b="1" dirty="0">
                <a:solidFill>
                  <a:srgbClr val="FF0000"/>
                </a:solidFill>
                <a:latin typeface="Times New Roman" panose="02020603050405020304" pitchFamily="18" charset="0"/>
                <a:cs typeface="Times New Roman" panose="02020603050405020304" pitchFamily="18" charset="0"/>
              </a:rPr>
              <a:t>Snapshots</a:t>
            </a:r>
            <a:endParaRPr lang="en-IN" sz="4800" b="1" dirty="0">
              <a:solidFill>
                <a:srgbClr val="FF0000"/>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3ABD44B5-FB3B-D299-4A07-CC62E000EE5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6992" y="1208960"/>
            <a:ext cx="9314688" cy="4740736"/>
          </a:xfrm>
          <a:prstGeom prst="rect">
            <a:avLst/>
          </a:prstGeom>
        </p:spPr>
      </p:pic>
    </p:spTree>
    <p:extLst>
      <p:ext uri="{BB962C8B-B14F-4D97-AF65-F5344CB8AC3E}">
        <p14:creationId xmlns:p14="http://schemas.microsoft.com/office/powerpoint/2010/main" val="16366131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CA047A3-9333-E4D5-61E2-EE7B1668C54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0144" y="1526744"/>
            <a:ext cx="9326880" cy="4447336"/>
          </a:xfrm>
          <a:prstGeom prst="rect">
            <a:avLst/>
          </a:prstGeom>
        </p:spPr>
      </p:pic>
    </p:spTree>
    <p:extLst>
      <p:ext uri="{BB962C8B-B14F-4D97-AF65-F5344CB8AC3E}">
        <p14:creationId xmlns:p14="http://schemas.microsoft.com/office/powerpoint/2010/main" val="113289464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5DD760A-0B9C-BC89-A3BD-84E5EB2A72E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1461" y="1238603"/>
            <a:ext cx="8992955" cy="4576982"/>
          </a:xfrm>
          <a:prstGeom prst="rect">
            <a:avLst/>
          </a:prstGeom>
        </p:spPr>
      </p:pic>
    </p:spTree>
    <p:extLst>
      <p:ext uri="{BB962C8B-B14F-4D97-AF65-F5344CB8AC3E}">
        <p14:creationId xmlns:p14="http://schemas.microsoft.com/office/powerpoint/2010/main" val="25685719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56AF5D8C-000E-DFE9-400D-AC24910139B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3583" y="1024128"/>
            <a:ext cx="9691394" cy="5050568"/>
          </a:xfrm>
          <a:prstGeom prst="rect">
            <a:avLst/>
          </a:prstGeom>
        </p:spPr>
      </p:pic>
    </p:spTree>
    <p:extLst>
      <p:ext uri="{BB962C8B-B14F-4D97-AF65-F5344CB8AC3E}">
        <p14:creationId xmlns:p14="http://schemas.microsoft.com/office/powerpoint/2010/main" val="24777154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6CB23E9-0E8C-C38A-5BBA-58F88FF5788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3296" y="1158240"/>
            <a:ext cx="9351264" cy="4883240"/>
          </a:xfrm>
          <a:prstGeom prst="rect">
            <a:avLst/>
          </a:prstGeom>
        </p:spPr>
      </p:pic>
    </p:spTree>
    <p:extLst>
      <p:ext uri="{BB962C8B-B14F-4D97-AF65-F5344CB8AC3E}">
        <p14:creationId xmlns:p14="http://schemas.microsoft.com/office/powerpoint/2010/main" val="115397275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2872DE9-F75F-8A9F-3D26-AA8D09FB238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36960" y="678556"/>
            <a:ext cx="6620799" cy="5525271"/>
          </a:xfrm>
          <a:prstGeom prst="rect">
            <a:avLst/>
          </a:prstGeom>
        </p:spPr>
      </p:pic>
    </p:spTree>
    <p:extLst>
      <p:ext uri="{BB962C8B-B14F-4D97-AF65-F5344CB8AC3E}">
        <p14:creationId xmlns:p14="http://schemas.microsoft.com/office/powerpoint/2010/main" val="224847678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3EB7A3C-0B84-0244-7CD7-BA038D668CE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0688" y="695036"/>
            <a:ext cx="9290304" cy="5467927"/>
          </a:xfrm>
          <a:prstGeom prst="rect">
            <a:avLst/>
          </a:prstGeom>
        </p:spPr>
      </p:pic>
    </p:spTree>
    <p:extLst>
      <p:ext uri="{BB962C8B-B14F-4D97-AF65-F5344CB8AC3E}">
        <p14:creationId xmlns:p14="http://schemas.microsoft.com/office/powerpoint/2010/main" val="169239537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4546FC1-6CA2-90F4-A555-103D0D4456C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3769" y="537759"/>
            <a:ext cx="9316750" cy="5782482"/>
          </a:xfrm>
          <a:prstGeom prst="rect">
            <a:avLst/>
          </a:prstGeom>
        </p:spPr>
      </p:pic>
    </p:spTree>
    <p:extLst>
      <p:ext uri="{BB962C8B-B14F-4D97-AF65-F5344CB8AC3E}">
        <p14:creationId xmlns:p14="http://schemas.microsoft.com/office/powerpoint/2010/main" val="400422851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03A60C5-E97A-55B3-0C25-EC3C4764B80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9055" y="799733"/>
            <a:ext cx="10212225" cy="5258534"/>
          </a:xfrm>
          <a:prstGeom prst="rect">
            <a:avLst/>
          </a:prstGeom>
        </p:spPr>
      </p:pic>
    </p:spTree>
    <p:extLst>
      <p:ext uri="{BB962C8B-B14F-4D97-AF65-F5344CB8AC3E}">
        <p14:creationId xmlns:p14="http://schemas.microsoft.com/office/powerpoint/2010/main" val="44423288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97B1CB-5FEB-DF83-EABB-2A216DCEB86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E3558B5-1516-8D78-CBE6-2B7C9000861C}"/>
              </a:ext>
            </a:extLst>
          </p:cNvPr>
          <p:cNvSpPr txBox="1"/>
          <p:nvPr/>
        </p:nvSpPr>
        <p:spPr>
          <a:xfrm>
            <a:off x="3449904" y="405503"/>
            <a:ext cx="3034805" cy="707886"/>
          </a:xfrm>
          <a:prstGeom prst="rect">
            <a:avLst/>
          </a:prstGeom>
          <a:noFill/>
        </p:spPr>
        <p:txBody>
          <a:bodyPr wrap="none" rtlCol="0">
            <a:spAutoFit/>
          </a:bodyPr>
          <a:lstStyle/>
          <a:p>
            <a:r>
              <a:rPr lang="en-IN" sz="4000" dirty="0">
                <a:solidFill>
                  <a:srgbClr val="FF0000"/>
                </a:solidFill>
                <a:latin typeface="Times New Roman" panose="02020603050405020304" pitchFamily="18" charset="0"/>
                <a:cs typeface="Times New Roman" panose="02020603050405020304" pitchFamily="18" charset="0"/>
              </a:rPr>
              <a:t>Requirements</a:t>
            </a:r>
          </a:p>
        </p:txBody>
      </p:sp>
      <p:sp>
        <p:nvSpPr>
          <p:cNvPr id="4" name="TextBox 3">
            <a:extLst>
              <a:ext uri="{FF2B5EF4-FFF2-40B4-BE49-F238E27FC236}">
                <a16:creationId xmlns:a16="http://schemas.microsoft.com/office/drawing/2014/main" id="{ABA92BE4-D7B2-D7AB-7D1A-0671A6A17DB4}"/>
              </a:ext>
            </a:extLst>
          </p:cNvPr>
          <p:cNvSpPr txBox="1"/>
          <p:nvPr/>
        </p:nvSpPr>
        <p:spPr>
          <a:xfrm>
            <a:off x="374028" y="1113389"/>
            <a:ext cx="9615546" cy="4524315"/>
          </a:xfrm>
          <a:prstGeom prst="rect">
            <a:avLst/>
          </a:prstGeom>
          <a:noFill/>
        </p:spPr>
        <p:txBody>
          <a:bodyPr wrap="square" rtlCol="0">
            <a:spAutoFit/>
          </a:bodyPr>
          <a:lstStyle/>
          <a:p>
            <a:endParaRPr lang="en-IN" b="1" dirty="0">
              <a:latin typeface="Times New Roman" panose="02020603050405020304" pitchFamily="18" charset="0"/>
              <a:cs typeface="Times New Roman" panose="02020603050405020304" pitchFamily="18" charset="0"/>
            </a:endParaRPr>
          </a:p>
          <a:p>
            <a:endParaRPr lang="en-IN" b="1"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1. Hardware Requirements</a:t>
            </a:r>
          </a:p>
          <a:p>
            <a:r>
              <a:rPr lang="en-IN" b="1" dirty="0">
                <a:latin typeface="Times New Roman" panose="02020603050405020304" pitchFamily="18" charset="0"/>
                <a:cs typeface="Times New Roman" panose="02020603050405020304" pitchFamily="18" charset="0"/>
              </a:rPr>
              <a:t>Processor:</a:t>
            </a:r>
            <a:r>
              <a:rPr lang="en-IN" dirty="0">
                <a:latin typeface="Times New Roman" panose="02020603050405020304" pitchFamily="18" charset="0"/>
                <a:cs typeface="Times New Roman" panose="02020603050405020304" pitchFamily="18" charset="0"/>
              </a:rPr>
              <a:t> Intel Core i3 or above </a:t>
            </a:r>
          </a:p>
          <a:p>
            <a:r>
              <a:rPr lang="en-IN" b="1" dirty="0">
                <a:latin typeface="Times New Roman" panose="02020603050405020304" pitchFamily="18" charset="0"/>
                <a:cs typeface="Times New Roman" panose="02020603050405020304" pitchFamily="18" charset="0"/>
              </a:rPr>
              <a:t>RAM:</a:t>
            </a:r>
            <a:r>
              <a:rPr lang="en-IN" dirty="0">
                <a:latin typeface="Times New Roman" panose="02020603050405020304" pitchFamily="18" charset="0"/>
                <a:cs typeface="Times New Roman" panose="02020603050405020304" pitchFamily="18" charset="0"/>
              </a:rPr>
              <a:t> Minimum 4 GB </a:t>
            </a:r>
          </a:p>
          <a:p>
            <a:r>
              <a:rPr lang="en-IN" b="1" dirty="0">
                <a:latin typeface="Times New Roman" panose="02020603050405020304" pitchFamily="18" charset="0"/>
                <a:cs typeface="Times New Roman" panose="02020603050405020304" pitchFamily="18" charset="0"/>
              </a:rPr>
              <a:t>Hard Disk:</a:t>
            </a:r>
            <a:r>
              <a:rPr lang="en-IN" dirty="0">
                <a:latin typeface="Times New Roman" panose="02020603050405020304" pitchFamily="18" charset="0"/>
                <a:cs typeface="Times New Roman" panose="02020603050405020304" pitchFamily="18" charset="0"/>
              </a:rPr>
              <a:t> 500 GB or above </a:t>
            </a:r>
          </a:p>
          <a:p>
            <a:r>
              <a:rPr lang="en-IN" b="1" dirty="0">
                <a:latin typeface="Times New Roman" panose="02020603050405020304" pitchFamily="18" charset="0"/>
                <a:cs typeface="Times New Roman" panose="02020603050405020304" pitchFamily="18" charset="0"/>
              </a:rPr>
              <a:t>System:</a:t>
            </a:r>
            <a:r>
              <a:rPr lang="en-IN" dirty="0">
                <a:latin typeface="Times New Roman" panose="02020603050405020304" pitchFamily="18" charset="0"/>
                <a:cs typeface="Times New Roman" panose="02020603050405020304" pitchFamily="18" charset="0"/>
              </a:rPr>
              <a:t> Laptop / Desktop Computer</a:t>
            </a:r>
          </a:p>
          <a:p>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2. Software Requirements</a:t>
            </a:r>
          </a:p>
          <a:p>
            <a:r>
              <a:rPr lang="en-IN" b="1" dirty="0">
                <a:latin typeface="Times New Roman" panose="02020603050405020304" pitchFamily="18" charset="0"/>
                <a:cs typeface="Times New Roman" panose="02020603050405020304" pitchFamily="18" charset="0"/>
              </a:rPr>
              <a:t>Operating System:</a:t>
            </a:r>
            <a:r>
              <a:rPr lang="en-IN" dirty="0">
                <a:latin typeface="Times New Roman" panose="02020603050405020304" pitchFamily="18" charset="0"/>
                <a:cs typeface="Times New Roman" panose="02020603050405020304" pitchFamily="18" charset="0"/>
              </a:rPr>
              <a:t> Windows 10 / Windows 11 </a:t>
            </a:r>
          </a:p>
          <a:p>
            <a:r>
              <a:rPr lang="en-IN" b="1" dirty="0">
                <a:latin typeface="Times New Roman" panose="02020603050405020304" pitchFamily="18" charset="0"/>
                <a:cs typeface="Times New Roman" panose="02020603050405020304" pitchFamily="18" charset="0"/>
              </a:rPr>
              <a:t>Programming Language:</a:t>
            </a:r>
            <a:r>
              <a:rPr lang="en-IN" dirty="0">
                <a:latin typeface="Times New Roman" panose="02020603050405020304" pitchFamily="18" charset="0"/>
                <a:cs typeface="Times New Roman" panose="02020603050405020304" pitchFamily="18" charset="0"/>
              </a:rPr>
              <a:t> Python </a:t>
            </a:r>
          </a:p>
          <a:p>
            <a:r>
              <a:rPr lang="en-IN" b="1" dirty="0">
                <a:latin typeface="Times New Roman" panose="02020603050405020304" pitchFamily="18" charset="0"/>
                <a:cs typeface="Times New Roman" panose="02020603050405020304" pitchFamily="18" charset="0"/>
              </a:rPr>
              <a:t>IDE / Tools:</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Jupyter</a:t>
            </a:r>
            <a:r>
              <a:rPr lang="en-IN" dirty="0">
                <a:latin typeface="Times New Roman" panose="02020603050405020304" pitchFamily="18" charset="0"/>
                <a:cs typeface="Times New Roman" panose="02020603050405020304" pitchFamily="18" charset="0"/>
              </a:rPr>
              <a:t> Notebook / VS Code / Anaconda </a:t>
            </a:r>
          </a:p>
          <a:p>
            <a:r>
              <a:rPr lang="en-IN" b="1" dirty="0">
                <a:latin typeface="Times New Roman" panose="02020603050405020304" pitchFamily="18" charset="0"/>
                <a:cs typeface="Times New Roman" panose="02020603050405020304" pitchFamily="18" charset="0"/>
              </a:rPr>
              <a:t>Database:</a:t>
            </a:r>
            <a:r>
              <a:rPr lang="en-IN" dirty="0">
                <a:latin typeface="Times New Roman" panose="02020603050405020304" pitchFamily="18" charset="0"/>
                <a:cs typeface="Times New Roman" panose="02020603050405020304" pitchFamily="18" charset="0"/>
              </a:rPr>
              <a:t> MySQL / CSV Dataset </a:t>
            </a:r>
          </a:p>
          <a:p>
            <a:r>
              <a:rPr lang="en-IN" b="1" dirty="0">
                <a:latin typeface="Times New Roman" panose="02020603050405020304" pitchFamily="18" charset="0"/>
                <a:cs typeface="Times New Roman" panose="02020603050405020304" pitchFamily="18" charset="0"/>
              </a:rPr>
              <a:t>Libraries:</a:t>
            </a:r>
            <a:r>
              <a:rPr lang="en-IN" dirty="0">
                <a:latin typeface="Times New Roman" panose="02020603050405020304" pitchFamily="18" charset="0"/>
                <a:cs typeface="Times New Roman" panose="02020603050405020304" pitchFamily="18" charset="0"/>
              </a:rPr>
              <a:t> Pandas, NumPy, Matplotlib, Scikit-learn, </a:t>
            </a:r>
            <a:r>
              <a:rPr lang="en-IN" dirty="0" err="1">
                <a:latin typeface="Times New Roman" panose="02020603050405020304" pitchFamily="18" charset="0"/>
                <a:cs typeface="Times New Roman" panose="02020603050405020304" pitchFamily="18" charset="0"/>
              </a:rPr>
              <a:t>XGBoost</a:t>
            </a:r>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8246865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8423CE1-EB02-5F04-6701-02242E2EC513}"/>
              </a:ext>
            </a:extLst>
          </p:cNvPr>
          <p:cNvSpPr txBox="1"/>
          <p:nvPr/>
        </p:nvSpPr>
        <p:spPr>
          <a:xfrm>
            <a:off x="948347" y="2323949"/>
            <a:ext cx="8242184" cy="2585323"/>
          </a:xfrm>
          <a:prstGeom prst="rect">
            <a:avLst/>
          </a:prstGeom>
          <a:noFill/>
        </p:spPr>
        <p:txBody>
          <a:bodyPr wrap="square">
            <a:spAutoFit/>
          </a:bodyPr>
          <a:lstStyle/>
          <a:p>
            <a:pPr lvl="0" algn="just" defTabSz="914400" eaLnBrk="0" fontAlgn="base" hangingPunct="0">
              <a:spcBef>
                <a:spcPct val="0"/>
              </a:spcBef>
              <a:spcAft>
                <a:spcPct val="0"/>
              </a:spcAft>
            </a:pPr>
            <a:r>
              <a:rPr lang="en-US" dirty="0">
                <a:latin typeface="Times New Roman" panose="02020603050405020304" pitchFamily="18" charset="0"/>
                <a:cs typeface="Times New Roman" panose="02020603050405020304" pitchFamily="18" charset="0"/>
              </a:rPr>
              <a:t>The </a:t>
            </a:r>
            <a:r>
              <a:rPr lang="en-US" b="1" dirty="0">
                <a:latin typeface="Times New Roman" panose="02020603050405020304" pitchFamily="18" charset="0"/>
                <a:cs typeface="Times New Roman" panose="02020603050405020304" pitchFamily="18" charset="0"/>
              </a:rPr>
              <a:t>AI Based Product Demand and Sales Trend Analysis for Super Market</a:t>
            </a:r>
            <a:r>
              <a:rPr lang="en-US" dirty="0">
                <a:latin typeface="Times New Roman" panose="02020603050405020304" pitchFamily="18" charset="0"/>
                <a:cs typeface="Times New Roman" panose="02020603050405020304" pitchFamily="18" charset="0"/>
              </a:rPr>
              <a:t> system helps supermarkets analyze historical sales data and predict future product demand using Artificial Intelligence techniques. The system collects sales data, processes it, and applies machine learning algorithms to identify patterns and trends in customer purchasing behavior. By predicting future sales, the system helps store managers maintain proper inventory levels, reduce stock shortages, and avoid overstocking. This improves business decision-making and increases operational efficiency. Overall, the proposed system provides an intelligent solution for better sales forecasting and effective supermarket management.</a:t>
            </a:r>
            <a:endParaRPr kumimoji="0" lang="en-US" altLang="en-US" sz="1800" b="0" i="0" u="none" strike="noStrike" cap="none" normalizeH="0" baseline="0" dirty="0">
              <a:ln>
                <a:noFill/>
              </a:ln>
              <a:solidFill>
                <a:srgbClr val="002060"/>
              </a:solidFill>
              <a:effectLst/>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1A7B95DB-80BB-F7D5-56B4-E133866BDC94}"/>
              </a:ext>
            </a:extLst>
          </p:cNvPr>
          <p:cNvSpPr txBox="1"/>
          <p:nvPr/>
        </p:nvSpPr>
        <p:spPr>
          <a:xfrm>
            <a:off x="3331602" y="1234080"/>
            <a:ext cx="6098796" cy="769441"/>
          </a:xfrm>
          <a:prstGeom prst="rect">
            <a:avLst/>
          </a:prstGeom>
          <a:noFill/>
        </p:spPr>
        <p:txBody>
          <a:bodyPr wrap="square">
            <a:spAutoFit/>
          </a:bodyPr>
          <a:lstStyle/>
          <a:p>
            <a:r>
              <a:rPr lang="en-IN" sz="4400" dirty="0">
                <a:solidFill>
                  <a:srgbClr val="FF0000"/>
                </a:solidFill>
                <a:latin typeface="Times New Roman" panose="02020603050405020304" pitchFamily="18" charset="0"/>
                <a:cs typeface="Times New Roman" panose="02020603050405020304" pitchFamily="18" charset="0"/>
              </a:rPr>
              <a:t>Conclusion</a:t>
            </a:r>
          </a:p>
        </p:txBody>
      </p:sp>
    </p:spTree>
    <p:extLst>
      <p:ext uri="{BB962C8B-B14F-4D97-AF65-F5344CB8AC3E}">
        <p14:creationId xmlns:p14="http://schemas.microsoft.com/office/powerpoint/2010/main" val="222920270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B5EB03A-3589-33D9-7538-FE65B4C1CA3F}"/>
              </a:ext>
            </a:extLst>
          </p:cNvPr>
          <p:cNvSpPr txBox="1"/>
          <p:nvPr/>
        </p:nvSpPr>
        <p:spPr>
          <a:xfrm>
            <a:off x="715981" y="2106521"/>
            <a:ext cx="9097362" cy="1569660"/>
          </a:xfrm>
          <a:prstGeom prst="rect">
            <a:avLst/>
          </a:prstGeom>
          <a:noFill/>
        </p:spPr>
        <p:txBody>
          <a:bodyPr wrap="none" rtlCol="0">
            <a:spAutoFit/>
          </a:bodyPr>
          <a:lstStyle/>
          <a:p>
            <a:r>
              <a:rPr lang="en-IN" sz="9600" dirty="0">
                <a:solidFill>
                  <a:srgbClr val="FF0000"/>
                </a:solidFill>
                <a:latin typeface="Times New Roman" panose="02020603050405020304" pitchFamily="18" charset="0"/>
                <a:cs typeface="Times New Roman" panose="02020603050405020304" pitchFamily="18" charset="0"/>
              </a:rPr>
              <a:t>Any Suggestions</a:t>
            </a:r>
            <a:r>
              <a:rPr lang="en-IN" sz="9600" dirty="0">
                <a:solidFill>
                  <a:srgbClr val="FF0000"/>
                </a:solidFill>
                <a:latin typeface="Algerian" panose="04020705040A02060702" pitchFamily="82" charset="0"/>
              </a:rPr>
              <a:t>?</a:t>
            </a:r>
          </a:p>
        </p:txBody>
      </p:sp>
    </p:spTree>
    <p:extLst>
      <p:ext uri="{BB962C8B-B14F-4D97-AF65-F5344CB8AC3E}">
        <p14:creationId xmlns:p14="http://schemas.microsoft.com/office/powerpoint/2010/main" val="3738757980"/>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descr="A bouquet of flowers with a tag&#10;&#10;AI-generated content may be incorrect.">
            <a:extLst>
              <a:ext uri="{FF2B5EF4-FFF2-40B4-BE49-F238E27FC236}">
                <a16:creationId xmlns:a16="http://schemas.microsoft.com/office/drawing/2014/main" id="{5B3DE0C9-6F2C-48DA-1F20-07CBB40BA9B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489069424"/>
      </p:ext>
    </p:extLst>
  </p:cSld>
  <p:clrMapOvr>
    <a:masterClrMapping/>
  </p:clrMapOvr>
  <p:transition spd="slow"/>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Facet</Template>
  <TotalTime>457</TotalTime>
  <Words>2210</Words>
  <Application>Microsoft Office PowerPoint</Application>
  <PresentationFormat>Widescreen</PresentationFormat>
  <Paragraphs>114</Paragraphs>
  <Slides>30</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30</vt:i4>
      </vt:variant>
    </vt:vector>
  </HeadingPairs>
  <TitlesOfParts>
    <vt:vector size="38" baseType="lpstr">
      <vt:lpstr>Algerian</vt:lpstr>
      <vt:lpstr>Aptos</vt:lpstr>
      <vt:lpstr>Arial</vt:lpstr>
      <vt:lpstr>Times New Roman</vt:lpstr>
      <vt:lpstr>Trebuchet MS</vt:lpstr>
      <vt:lpstr>Wingdings</vt:lpstr>
      <vt:lpstr>Wingdings 3</vt:lpstr>
      <vt:lpstr>Facet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MBM</dc:creator>
  <cp:lastModifiedBy>Bharat Manikanta</cp:lastModifiedBy>
  <cp:revision>3</cp:revision>
  <dcterms:created xsi:type="dcterms:W3CDTF">2025-11-18T12:59:42Z</dcterms:created>
  <dcterms:modified xsi:type="dcterms:W3CDTF">2026-04-12T11:21:49Z</dcterms:modified>
</cp:coreProperties>
</file>